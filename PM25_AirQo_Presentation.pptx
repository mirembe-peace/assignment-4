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9" r:id="rId3"/>
    <p:sldId id="270" r:id="rId5"/>
    <p:sldId id="271" r:id="rId6"/>
    <p:sldId id="272" r:id="rId7"/>
    <p:sldId id="273" r:id="rId8"/>
    <p:sldId id="274" r:id="rId9"/>
    <p:sldId id="275" r:id="rId10"/>
    <p:sldId id="276" r:id="rId11"/>
    <p:sldId id="277" r:id="rId12"/>
    <p:sldId id="278" r:id="rId13"/>
    <p:sldId id="279" r:id="rId14"/>
    <p:sldId id="280" r:id="rId15"/>
    <p:sldId id="281" r:id="rId16"/>
    <p:sldId id="282" r:id="rId17"/>
    <p:sldId id="283" r:id="rId18"/>
    <p:sldId id="284" r:id="rId19"/>
    <p:sldId id="285" r:id="rId20"/>
    <p:sldId id="286" r:id="rId21"/>
    <p:sldId id="287" r:id="rId22"/>
    <p:sldId id="288" r:id="rId23"/>
    <p:sldId id="289" r:id="rId24"/>
    <p:sldId id="290" r:id="rId25"/>
    <p:sldId id="293" r:id="rId26"/>
    <p:sldId id="29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60"/>
  </p:normalViewPr>
  <p:slideViewPr>
    <p:cSldViewPr snapToGrid="0">
      <p:cViewPr varScale="1">
        <p:scale>
          <a:sx n="85" d="100"/>
          <a:sy n="85" d="100"/>
        </p:scale>
        <p:origin x="45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GB" sz="2160" b="1" i="0" u="none" strike="noStrike" kern="1200" baseline="0">
                <a:solidFill>
                  <a:schemeClr val="tx1"/>
                </a:solidFill>
                <a:latin typeface="+mn-lt"/>
                <a:ea typeface="+mn-ea"/>
                <a:cs typeface="+mn-cs"/>
              </a:defRPr>
            </a:pPr>
            <a:r>
              <a:rPr sz="1300"/>
              <a:t>Test RMSE, µg/m³ (lower is better)</a:t>
            </a:r>
            <a:endParaRPr sz="1300"/>
          </a:p>
        </c:rich>
      </c:tx>
      <c:layout/>
      <c:overlay val="0"/>
    </c:title>
    <c:autoTitleDeleted val="0"/>
    <c:plotArea>
      <c:layout/>
      <c:barChart>
        <c:barDir val="bar"/>
        <c:grouping val="clustered"/>
        <c:varyColors val="0"/>
        <c:ser>
          <c:idx val="0"/>
          <c:order val="0"/>
          <c:tx>
            <c:strRef>
              <c:f>Sheet1!$B$1</c:f>
              <c:strCache>
                <c:ptCount val="1"/>
                <c:pt idx="0">
                  <c:v>Test RMSE (µg/m³)</c:v>
                </c:pt>
              </c:strCache>
            </c:strRef>
          </c:tx>
          <c:invertIfNegative val="0"/>
          <c:dPt>
            <c:idx val="0"/>
            <c:invertIfNegative val="0"/>
            <c:bubble3D val="0"/>
            <c:spPr>
              <a:solidFill>
                <a:srgbClr val="B0B0B0"/>
              </a:solidFill>
            </c:spPr>
          </c:dPt>
          <c:dPt>
            <c:idx val="1"/>
            <c:invertIfNegative val="0"/>
            <c:bubble3D val="0"/>
            <c:spPr>
              <a:solidFill>
                <a:srgbClr val="0B3D91"/>
              </a:solidFill>
            </c:spPr>
          </c:dPt>
          <c:dPt>
            <c:idx val="2"/>
            <c:invertIfNegative val="0"/>
            <c:bubble3D val="0"/>
            <c:spPr>
              <a:solidFill>
                <a:srgbClr val="0B3D91"/>
              </a:solidFill>
            </c:spPr>
          </c:dPt>
          <c:dPt>
            <c:idx val="3"/>
            <c:invertIfNegative val="0"/>
            <c:bubble3D val="0"/>
            <c:spPr>
              <a:solidFill>
                <a:srgbClr val="0B3D91"/>
              </a:solidFill>
            </c:spPr>
          </c:dPt>
          <c:dPt>
            <c:idx val="4"/>
            <c:invertIfNegative val="0"/>
            <c:bubble3D val="0"/>
            <c:spPr>
              <a:solidFill>
                <a:srgbClr val="0B3D91"/>
              </a:solidFill>
            </c:spPr>
          </c:dPt>
          <c:dPt>
            <c:idx val="5"/>
            <c:invertIfNegative val="0"/>
            <c:bubble3D val="0"/>
            <c:spPr>
              <a:solidFill>
                <a:srgbClr val="0B3D91"/>
              </a:solidFill>
            </c:spPr>
          </c:dPt>
          <c:dPt>
            <c:idx val="6"/>
            <c:invertIfNegative val="0"/>
            <c:bubble3D val="0"/>
            <c:spPr>
              <a:solidFill>
                <a:srgbClr val="0B3D91"/>
              </a:solidFill>
            </c:spPr>
          </c:dPt>
          <c:dPt>
            <c:idx val="7"/>
            <c:invertIfNegative val="0"/>
            <c:bubble3D val="0"/>
            <c:spPr>
              <a:solidFill>
                <a:srgbClr val="D7014D"/>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en-GB" sz="18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Sheet1!$A$2:$A$9</c:f>
              <c:strCache>
                <c:ptCount val="8"/>
                <c:pt idx="0">
                  <c:v>Baseline (mean)</c:v>
                </c:pt>
                <c:pt idx="1">
                  <c:v>DecisionTree</c:v>
                </c:pt>
                <c:pt idx="2">
                  <c:v>Stacking</c:v>
                </c:pt>
                <c:pt idx="3">
                  <c:v>Ridge</c:v>
                </c:pt>
                <c:pt idx="4">
                  <c:v>KNN</c:v>
                </c:pt>
                <c:pt idx="5">
                  <c:v>SVR</c:v>
                </c:pt>
                <c:pt idx="6">
                  <c:v>HistGradBoost</c:v>
                </c:pt>
                <c:pt idx="7">
                  <c:v>RandomForest</c:v>
                </c:pt>
              </c:strCache>
            </c:strRef>
          </c:cat>
          <c:val>
            <c:numRef>
              <c:f>Sheet1!$B$2:$B$9</c:f>
              <c:numCache>
                <c:formatCode>General</c:formatCode>
                <c:ptCount val="8"/>
                <c:pt idx="0">
                  <c:v>26.2</c:v>
                </c:pt>
                <c:pt idx="1">
                  <c:v>23.1</c:v>
                </c:pt>
                <c:pt idx="2">
                  <c:v>22.9</c:v>
                </c:pt>
                <c:pt idx="3">
                  <c:v>22.7</c:v>
                </c:pt>
                <c:pt idx="4">
                  <c:v>22.5</c:v>
                </c:pt>
                <c:pt idx="5">
                  <c:v>22.2</c:v>
                </c:pt>
                <c:pt idx="6">
                  <c:v>21.5</c:v>
                </c:pt>
                <c:pt idx="7">
                  <c:v>20.8</c:v>
                </c:pt>
              </c:numCache>
            </c:numRef>
          </c:val>
        </c:ser>
        <c:dLbls>
          <c:showLegendKey val="0"/>
          <c:showVal val="1"/>
          <c:showCatName val="0"/>
          <c:showSerName val="0"/>
          <c:showPercent val="0"/>
          <c:showBubbleSize val="0"/>
        </c:dLbls>
        <c:gapWidth val="60"/>
        <c:axId val="-2068027336"/>
        <c:axId val="-2113994440"/>
      </c:barChart>
      <c:catAx>
        <c:axId val="-2068027336"/>
        <c:scaling>
          <c:orientation val="minMax"/>
        </c:scaling>
        <c:delete val="0"/>
        <c:axPos val="l"/>
        <c:majorTickMark val="out"/>
        <c:minorTickMark val="none"/>
        <c:tickLblPos val="nextTo"/>
        <c:txPr>
          <a:bodyPr rot="-60000000" spcFirstLastPara="0" vertOverflow="ellipsis" vert="horz" wrap="square" anchor="ctr" anchorCtr="1"/>
          <a:lstStyle/>
          <a:p>
            <a:pPr>
              <a:defRPr lang="en-GB" sz="1100" b="0" i="0" u="none" strike="noStrike" kern="1200" baseline="0">
                <a:solidFill>
                  <a:schemeClr val="tx1"/>
                </a:solidFill>
                <a:latin typeface="+mn-lt"/>
                <a:ea typeface="+mn-ea"/>
                <a:cs typeface="+mn-cs"/>
              </a:defRPr>
            </a:pPr>
          </a:p>
        </c:txPr>
        <c:crossAx val="-2113994440"/>
        <c:crosses val="autoZero"/>
        <c:auto val="1"/>
        <c:lblAlgn val="ctr"/>
        <c:lblOffset val="100"/>
        <c:noMultiLvlLbl val="0"/>
      </c:catAx>
      <c:valAx>
        <c:axId val="-2113994440"/>
        <c:scaling>
          <c:orientation val="minMax"/>
        </c:scaling>
        <c:delete val="0"/>
        <c:axPos val="b"/>
        <c:majorGridlines>
          <c:spPr>
            <a:ln w="6350" cap="flat" cmpd="sng" algn="ctr">
              <a:solidFill>
                <a:srgbClr val="E3E3E3"/>
              </a:solidFill>
              <a:prstDash val="solid"/>
              <a:round/>
            </a:ln>
          </c:spPr>
        </c:majorGridlines>
        <c:numFmt formatCode="General" sourceLinked="1"/>
        <c:majorTickMark val="out"/>
        <c:minorTickMark val="none"/>
        <c:tickLblPos val="nextTo"/>
        <c:txPr>
          <a:bodyPr rot="-60000000" spcFirstLastPara="0" vertOverflow="ellipsis" vert="horz" wrap="square" anchor="ctr" anchorCtr="1"/>
          <a:lstStyle/>
          <a:p>
            <a:pPr>
              <a:defRPr lang="en-GB" sz="1000" b="0" i="0" u="none" strike="noStrike" kern="1200" baseline="0">
                <a:solidFill>
                  <a:schemeClr val="tx1"/>
                </a:solidFill>
                <a:latin typeface="+mn-lt"/>
                <a:ea typeface="+mn-ea"/>
                <a:cs typeface="+mn-cs"/>
              </a:defRPr>
            </a:pPr>
          </a:p>
        </c:txPr>
        <c:crossAx val="-2068027336"/>
        <c:crosses val="autoZero"/>
        <c:crossBetween val="between"/>
      </c:valAx>
    </c:plotArea>
    <c:plotVisOnly val="1"/>
    <c:dispBlanksAs val="gap"/>
    <c:showDLblsOverMax val="0"/>
    <c:extLst>
      <c:ext uri="{0b15fc19-7d7d-44ad-8c2d-2c3a37ce22c3}">
        <chartProps xmlns="https://web.wps.cn/et/2018/main" chartId="{574b5d9f-908d-42fc-91f8-5d5af9074562}"/>
      </c:ext>
    </c:extLst>
  </c:chart>
  <c:txPr>
    <a:bodyPr/>
    <a:lstStyle/>
    <a:p>
      <a:pPr>
        <a:defRPr lang="en-GB" sz="1800"/>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GB" sz="2160" b="1" i="0" u="none" strike="noStrike" kern="1200" baseline="0">
                <a:solidFill>
                  <a:schemeClr val="tx1"/>
                </a:solidFill>
                <a:latin typeface="+mn-lt"/>
                <a:ea typeface="+mn-ea"/>
                <a:cs typeface="+mn-cs"/>
              </a:defRPr>
            </a:pPr>
            <a:r>
              <a:rPr sz="1300"/>
              <a:t>Increase in test RMSE (z) when the input is shuffled</a:t>
            </a:r>
            <a:endParaRPr sz="1300"/>
          </a:p>
        </c:rich>
      </c:tx>
      <c:layout/>
      <c:overlay val="0"/>
    </c:title>
    <c:autoTitleDeleted val="0"/>
    <c:plotArea>
      <c:layout/>
      <c:barChart>
        <c:barDir val="bar"/>
        <c:grouping val="clustered"/>
        <c:varyColors val="0"/>
        <c:ser>
          <c:idx val="0"/>
          <c:order val="0"/>
          <c:tx>
            <c:strRef>
              <c:f>Sheet1!$B$1</c:f>
              <c:strCache>
                <c:ptCount val="1"/>
                <c:pt idx="0">
                  <c:v>RMSE increase</c:v>
                </c:pt>
              </c:strCache>
            </c:strRef>
          </c:tx>
          <c:invertIfNegative val="0"/>
          <c:dPt>
            <c:idx val="0"/>
            <c:invertIfNegative val="0"/>
            <c:bubble3D val="0"/>
            <c:spPr>
              <a:solidFill>
                <a:srgbClr val="0B3D91"/>
              </a:solidFill>
            </c:spPr>
          </c:dPt>
          <c:dPt>
            <c:idx val="1"/>
            <c:invertIfNegative val="0"/>
            <c:bubble3D val="0"/>
            <c:spPr>
              <a:solidFill>
                <a:srgbClr val="0B3D91"/>
              </a:solidFill>
            </c:spPr>
          </c:dPt>
          <c:dPt>
            <c:idx val="2"/>
            <c:invertIfNegative val="0"/>
            <c:bubble3D val="0"/>
            <c:spPr>
              <a:solidFill>
                <a:srgbClr val="0B3D91"/>
              </a:solidFill>
            </c:spPr>
          </c:dPt>
          <c:dPt>
            <c:idx val="3"/>
            <c:invertIfNegative val="0"/>
            <c:bubble3D val="0"/>
            <c:spPr>
              <a:solidFill>
                <a:srgbClr val="0B3D91"/>
              </a:solidFill>
            </c:spPr>
          </c:dPt>
          <c:dPt>
            <c:idx val="4"/>
            <c:invertIfNegative val="0"/>
            <c:bubble3D val="0"/>
            <c:spPr>
              <a:solidFill>
                <a:srgbClr val="0B3D91"/>
              </a:solidFill>
            </c:spPr>
          </c:dPt>
          <c:dPt>
            <c:idx val="5"/>
            <c:invertIfNegative val="0"/>
            <c:bubble3D val="0"/>
            <c:spPr>
              <a:solidFill>
                <a:srgbClr val="0B3D91"/>
              </a:solidFill>
            </c:spPr>
          </c:dPt>
          <c:dPt>
            <c:idx val="6"/>
            <c:invertIfNegative val="0"/>
            <c:bubble3D val="0"/>
            <c:spPr>
              <a:solidFill>
                <a:srgbClr val="0B3D91"/>
              </a:solidFill>
            </c:spPr>
          </c:dPt>
          <c:dPt>
            <c:idx val="7"/>
            <c:invertIfNegative val="0"/>
            <c:bubble3D val="0"/>
            <c:spPr>
              <a:solidFill>
                <a:srgbClr val="D7014D"/>
              </a:solidFill>
            </c:spPr>
          </c:dPt>
          <c:dPt>
            <c:idx val="8"/>
            <c:invertIfNegative val="0"/>
            <c:bubble3D val="0"/>
            <c:spPr>
              <a:solidFill>
                <a:srgbClr val="D7014D"/>
              </a:solidFill>
            </c:spPr>
          </c:dPt>
          <c:dLbls>
            <c:numFmt formatCode="0.000" sourceLinked="0"/>
            <c:spPr>
              <a:noFill/>
              <a:ln>
                <a:noFill/>
              </a:ln>
              <a:effectLst/>
            </c:spPr>
            <c:txPr>
              <a:bodyPr rot="0" spcFirstLastPara="0" vertOverflow="ellipsis" vert="horz" wrap="square" lIns="38100" tIns="19050" rIns="38100" bIns="19050" anchor="ctr" anchorCtr="1"/>
              <a:lstStyle/>
              <a:p>
                <a:pPr>
                  <a:defRPr lang="en-GB" sz="18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Sheet1!$A$2:$A$10</c:f>
              <c:strCache>
                <c:ptCount val="9"/>
                <c:pt idx="0">
                  <c:v>humidity</c:v>
                </c:pt>
                <c:pt idx="1">
                  <c:v>latitude</c:v>
                </c:pt>
                <c:pt idx="2">
                  <c:v>temp</c:v>
                </c:pt>
                <c:pt idx="3">
                  <c:v>longitude</c:v>
                </c:pt>
                <c:pt idx="4">
                  <c:v>network_airqo</c:v>
                </c:pt>
                <c:pt idx="5">
                  <c:v>hour_sin</c:v>
                </c:pt>
                <c:pt idx="6">
                  <c:v>hour_cos</c:v>
                </c:pt>
                <c:pt idx="7">
                  <c:v>device_name</c:v>
                </c:pt>
                <c:pt idx="8">
                  <c:v>month</c:v>
                </c:pt>
              </c:strCache>
            </c:strRef>
          </c:cat>
          <c:val>
            <c:numRef>
              <c:f>Sheet1!$B$2:$B$10</c:f>
              <c:numCache>
                <c:formatCode>General</c:formatCode>
                <c:ptCount val="9"/>
                <c:pt idx="0">
                  <c:v>0.014</c:v>
                </c:pt>
                <c:pt idx="1">
                  <c:v>0.024</c:v>
                </c:pt>
                <c:pt idx="2">
                  <c:v>0.026</c:v>
                </c:pt>
                <c:pt idx="3">
                  <c:v>0.034</c:v>
                </c:pt>
                <c:pt idx="4">
                  <c:v>0.037</c:v>
                </c:pt>
                <c:pt idx="5">
                  <c:v>0.041</c:v>
                </c:pt>
                <c:pt idx="6">
                  <c:v>0.045</c:v>
                </c:pt>
                <c:pt idx="7">
                  <c:v>0.151</c:v>
                </c:pt>
                <c:pt idx="8">
                  <c:v>0.285</c:v>
                </c:pt>
              </c:numCache>
            </c:numRef>
          </c:val>
        </c:ser>
        <c:dLbls>
          <c:showLegendKey val="0"/>
          <c:showVal val="1"/>
          <c:showCatName val="0"/>
          <c:showSerName val="0"/>
          <c:showPercent val="0"/>
          <c:showBubbleSize val="0"/>
        </c:dLbls>
        <c:gapWidth val="60"/>
        <c:axId val="-2068027336"/>
        <c:axId val="-2113994440"/>
      </c:barChart>
      <c:catAx>
        <c:axId val="-2068027336"/>
        <c:scaling>
          <c:orientation val="minMax"/>
        </c:scaling>
        <c:delete val="0"/>
        <c:axPos val="l"/>
        <c:majorTickMark val="out"/>
        <c:minorTickMark val="none"/>
        <c:tickLblPos val="nextTo"/>
        <c:txPr>
          <a:bodyPr rot="-60000000" spcFirstLastPara="0" vertOverflow="ellipsis" vert="horz" wrap="square" anchor="ctr" anchorCtr="1"/>
          <a:lstStyle/>
          <a:p>
            <a:pPr>
              <a:defRPr lang="en-GB" sz="1100" b="0" i="0" u="none" strike="noStrike" kern="1200" baseline="0">
                <a:solidFill>
                  <a:schemeClr val="tx1"/>
                </a:solidFill>
                <a:latin typeface="+mn-lt"/>
                <a:ea typeface="+mn-ea"/>
                <a:cs typeface="+mn-cs"/>
              </a:defRPr>
            </a:pPr>
          </a:p>
        </c:txPr>
        <c:crossAx val="-2113994440"/>
        <c:crosses val="autoZero"/>
        <c:auto val="1"/>
        <c:lblAlgn val="ctr"/>
        <c:lblOffset val="100"/>
        <c:noMultiLvlLbl val="0"/>
      </c:catAx>
      <c:valAx>
        <c:axId val="-2113994440"/>
        <c:scaling>
          <c:orientation val="minMax"/>
        </c:scaling>
        <c:delete val="0"/>
        <c:axPos val="b"/>
        <c:majorGridlines>
          <c:spPr>
            <a:ln w="6350" cap="flat" cmpd="sng" algn="ctr">
              <a:solidFill>
                <a:srgbClr val="E3E3E3"/>
              </a:solidFill>
              <a:prstDash val="solid"/>
              <a:round/>
            </a:ln>
          </c:spPr>
        </c:majorGridlines>
        <c:numFmt formatCode="General" sourceLinked="1"/>
        <c:majorTickMark val="out"/>
        <c:minorTickMark val="none"/>
        <c:tickLblPos val="nextTo"/>
        <c:txPr>
          <a:bodyPr rot="-60000000" spcFirstLastPara="0" vertOverflow="ellipsis" vert="horz" wrap="square" anchor="ctr" anchorCtr="1"/>
          <a:lstStyle/>
          <a:p>
            <a:pPr>
              <a:defRPr lang="en-GB" sz="1000" b="0" i="0" u="none" strike="noStrike" kern="1200" baseline="0">
                <a:solidFill>
                  <a:schemeClr val="tx1"/>
                </a:solidFill>
                <a:latin typeface="+mn-lt"/>
                <a:ea typeface="+mn-ea"/>
                <a:cs typeface="+mn-cs"/>
              </a:defRPr>
            </a:pPr>
          </a:p>
        </c:txPr>
        <c:crossAx val="-2068027336"/>
        <c:crosses val="autoZero"/>
        <c:crossBetween val="between"/>
      </c:valAx>
    </c:plotArea>
    <c:plotVisOnly val="1"/>
    <c:dispBlanksAs val="gap"/>
    <c:showDLblsOverMax val="0"/>
    <c:extLst>
      <c:ext uri="{0b15fc19-7d7d-44ad-8c2d-2c3a37ce22c3}">
        <chartProps xmlns="https://web.wps.cn/et/2018/main" chartId="{0d68dbbf-3164-4f3b-a67c-92be05288783}"/>
      </c:ext>
    </c:extLst>
  </c:chart>
  <c:txPr>
    <a:bodyPr/>
    <a:lstStyle/>
    <a:p>
      <a:pPr>
        <a:defRPr lang="en-GB" sz="18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Introduce the assignment: we build an end-to-end pipeline that takes raw AirQo sensor readings, cleans them, explores them, trains and tunes machine-learning models to predict PM2.5, forecasts August 2026, monitors drift with Evidently AI and runs on RunPod. Replace the name and registration placeholders before presenting.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Kampala's annual mean PM2.5 of 39 µg/m³ (2018–2021 reference monitoring) is about eight times the WHO guideline of 5 µg/m³, and an estimated 7,257 deaths were attributed to long-term exposure. A forecast lets institutions act before bad-air days rather than after.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Walk the pipeline left to right then right to left. Each stage writes its outputs and a log line, so the same notebook run on RunPod leaves evidence behind.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Important honesty point. The file is labelled January to July 2026, but readings exist only for 1–3 January, 1–2 April and 1–3 June. After building the full hourly grid, just 1.9% of sensor-hours are observed. We keep the rest as missing, as the brief asks, and design validation around this.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Each rule has a reason. Zeros are nulls per the brief. Coordinates: a fixed monitor does not move, so we use the device median and reject GPS fixes more than 5.5 km away. Only physically impossible PM2.5 values above 500 are removed. Statistical outliers are flagged but kept because they line up with traffic and cooking peaks. Short gaps are interpolated, long gaps stay missing (Junninen et al., 2004).</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EDA uses five Kampala sensors with the most data: Nakasero, Civic Centre, Bukoto, Lower Nsooba and Salama Road (an AirGradient unit).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Most hours sit between 15 and 60 µg/m³, but there is a long tail up to about 290 µg/m³ at Salama Road. Skewness is 1.7, so the mean is pulled above the median. The box plots flag these spikes; we keep them because they happen at the morning and evening peaks.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Each panel is one observation window. Background colours are the AQI categories from the brief. January is far worse than April and June: many hours in the red Unhealthy band. April and June mostly sit in Moderate with short excursions into Unhealthy for Sensitive Groups.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Averaging by hour of day shows two peaks: 7 to 10 am and 7 to 11 pm, matching traffic and charcoal cooking, and a mid-afternoon minimum when the boundary layer is deepest. This is why hour of day is a key model feature.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z equals x minus the mean, divided by the standard deviation, using all sensors. The mean is 32.5 and sigma 27.9 µg/m³. z of zero is an average hour; plus one is one standard deviation dirtier. Because the data is skewed, positive z values go much further than negative ones. We keep mu and sigma to convert predictions back to micrograms.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Pearson and Spearman correlations for the five sensors. Temperature is negatively correlated with PM2.5 and humidity positively, strongest at Salama Road: Spearman minus 0.56 and plus 0.48. Pooled correlations are weaker because sensors have different baselines. Physics: cool humid nights mean shallow mixing layers that trap particles.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We kept only inputs that are known when forecasting. PM10 would leak the answer. Day of week and a dry-season flag were tested and removed because with only 8 days they act as date identifiers. The first attempt, train January plus April and test June, gave R squared at or below zero for every model: January is twice as polluted and nothing in the features explains it. So we test on the later day or days of every window, training on the first day.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Each row lists the hyperparameters tuned and the best values. Ridge's alpha controls shrinkage; KNN's K trades noise for smoothing; SVR's C, epsilon and gamma set fit tightness, tolerance and locality; tree depth and leaf size control overfitting; for boosting, learning rate times iterations is the classic speed versus generalisation trade-off.</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Test RMSE in micrograms per cubic metre on the hold-out days. Random Forest is best at 20.8, against 26.2 for always predicting the mean. Stacking had the best cross-validation score but generalised worse on the test days, a reminder that CV and test can disagree with little data.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Left: predictions track observations but are compressed toward the middle; the highest spikes are under-predicted. Middle: errors are centred near zero. Right: most confusion is between neighbouring AQI bands. Permutation importance shows sensor identity and hour of day dominate.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Permutation importance: shuffle one input on the test set and measure how much RMSE gets worse. The bigger the increase, the more the model relies on that input. Month matters most because it captures the January versus April and June level shift. Next comes sensor identity, which carries each site's typical level, then the hour-of-day features. Temperature and humidity add a smaller weather signal.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Predictions from the saved model, inverse-transformed from z to micrograms. Five sensors, one per geographic zone: Fort Portal, Kampala, Jinja, Mbarara and Gulu. Values are flat across days because no day-varying input is known for August; the information is in the differences between places. Across all 149 sensors most days are Moderate, with about 150 sensor-days Unhealthy for Sensitive Groups and 70 Unhealthy.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hourly forecast keeps the double-peak shape learnt from the data: morning and late-evening highs, mid-afternoon low. Nakasero in central Kampala approaches the USG threshold around 8 am. The ribbon is the 10 to 90 percent spread across the trees of the forest, a rough indication of uncertainty.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map uses a Uganda boundary shapefile. At 1 pm, normally the cleanest time of day, three sensors are predicted in the Unhealthy for Sensitive Groups band, all in greater Kampala: Nansana East, Mbalwa in Kira, and Salama Road. None reach Very Unhealthy.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Two runs. Run A compares the training hours with out-of-fold predictions to the hold-out hours: weather and hour features drift, the target does not, and RMSE rises only slightly, so no model drift. Run B compares January with June: temperature, humidity and PM2.5 itself all drift strongly; a model trained only in January would fail in June, which is exactly what we observed.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Be upfront about the data: 8 days cannot teach seasons or weekdays. The biggest gains would come from more continuous data, a weather forecast feed and lag features for short-term forecasting.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hyperlink" Target="mailto:info@ucu.ac.ug" TargetMode="External"/><Relationship Id="rId7" Type="http://schemas.openxmlformats.org/officeDocument/2006/relationships/hyperlink" Target="https://ucu.ac.ug/" TargetMode="External"/><Relationship Id="rId6" Type="http://schemas.microsoft.com/office/2007/relationships/hdphoto" Target="../media/image5.wdp"/><Relationship Id="rId5" Type="http://schemas.openxmlformats.org/officeDocument/2006/relationships/image" Target="../media/image4.png"/><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1" Type="http://schemas.microsoft.com/office/2007/relationships/hdphoto" Target="../media/image8.wdp"/><Relationship Id="rId10"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145D528E-B0C4-574C-AE6E-B35A83CFEB13}" type="datetimeFigureOut">
              <a:rPr lang="en-GB" smtClean="0"/>
            </a:fld>
            <a:endParaRPr lang="en-GB"/>
          </a:p>
        </p:txBody>
      </p:sp>
      <p:sp>
        <p:nvSpPr>
          <p:cNvPr id="5" name="Footer Placeholder 4"/>
          <p:cNvSpPr>
            <a:spLocks noGrp="1"/>
          </p:cNvSpPr>
          <p:nvPr>
            <p:ph type="ftr" sz="quarter" idx="11"/>
          </p:nvPr>
        </p:nvSpPr>
        <p:spPr>
          <a:xfrm>
            <a:off x="2116899" y="6356350"/>
            <a:ext cx="8129391" cy="365125"/>
          </a:xfrm>
          <a:prstGeom prst="rect">
            <a:avLst/>
          </a:prstGeom>
        </p:spPr>
        <p:txBody>
          <a:bodyPr/>
          <a:lstStyle/>
          <a:p>
            <a:endParaRPr lang="en-GB" dirty="0"/>
          </a:p>
        </p:txBody>
      </p:sp>
      <p:sp>
        <p:nvSpPr>
          <p:cNvPr id="6" name="Slide Number Placeholder 5"/>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idx="1"/>
          </p:nvPr>
        </p:nvSpPr>
        <p:spPr/>
        <p:txBody>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
        <p:nvSpPr>
          <p:cNvPr id="4" name="Date Placeholder 3"/>
          <p:cNvSpPr>
            <a:spLocks noGrp="1"/>
          </p:cNvSpPr>
          <p:nvPr>
            <p:ph type="dt" sz="half" idx="10"/>
          </p:nvPr>
        </p:nvSpPr>
        <p:spPr/>
        <p:txBody>
          <a:bodyPr/>
          <a:lstStyle/>
          <a:p>
            <a:fld id="{145D528E-B0C4-574C-AE6E-B35A83CFEB13}" type="datetimeFigureOut">
              <a:rPr lang="en-GB" smtClean="0"/>
            </a:fld>
            <a:endParaRPr lang="en-GB"/>
          </a:p>
        </p:txBody>
      </p:sp>
      <p:sp>
        <p:nvSpPr>
          <p:cNvPr id="5" name="Footer Placeholder 4"/>
          <p:cNvSpPr>
            <a:spLocks noGrp="1"/>
          </p:cNvSpPr>
          <p:nvPr>
            <p:ph type="ftr" sz="quarter" idx="11"/>
          </p:nvPr>
        </p:nvSpPr>
        <p:spPr>
          <a:xfrm>
            <a:off x="2116899" y="6356350"/>
            <a:ext cx="8129391" cy="365125"/>
          </a:xfrm>
          <a:prstGeom prst="rect">
            <a:avLst/>
          </a:prstGeom>
        </p:spPr>
        <p:txBody>
          <a:bodyPr/>
          <a:lstStyle/>
          <a:p>
            <a:endParaRPr lang="en-GB"/>
          </a:p>
        </p:txBody>
      </p:sp>
      <p:sp>
        <p:nvSpPr>
          <p:cNvPr id="6" name="Slide Number Placeholder 5"/>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145D528E-B0C4-574C-AE6E-B35A83CFEB13}" type="datetimeFigureOut">
              <a:rPr lang="en-GB" smtClean="0"/>
            </a:fld>
            <a:endParaRPr lang="en-GB"/>
          </a:p>
        </p:txBody>
      </p:sp>
      <p:sp>
        <p:nvSpPr>
          <p:cNvPr id="5" name="Footer Placeholder 4"/>
          <p:cNvSpPr>
            <a:spLocks noGrp="1"/>
          </p:cNvSpPr>
          <p:nvPr>
            <p:ph type="ftr" sz="quarter" idx="11"/>
          </p:nvPr>
        </p:nvSpPr>
        <p:spPr>
          <a:xfrm>
            <a:off x="2116899" y="6356350"/>
            <a:ext cx="8129391" cy="365125"/>
          </a:xfrm>
          <a:prstGeom prst="rect">
            <a:avLst/>
          </a:prstGeom>
        </p:spPr>
        <p:txBody>
          <a:bodyPr/>
          <a:lstStyle/>
          <a:p>
            <a:endParaRPr lang="en-GB"/>
          </a:p>
        </p:txBody>
      </p:sp>
      <p:sp>
        <p:nvSpPr>
          <p:cNvPr id="6" name="Slide Number Placeholder 5"/>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Date Placeholder 4"/>
          <p:cNvSpPr>
            <a:spLocks noGrp="1"/>
          </p:cNvSpPr>
          <p:nvPr>
            <p:ph type="dt" sz="half" idx="10"/>
          </p:nvPr>
        </p:nvSpPr>
        <p:spPr/>
        <p:txBody>
          <a:bodyPr/>
          <a:lstStyle/>
          <a:p>
            <a:fld id="{145D528E-B0C4-574C-AE6E-B35A83CFEB13}" type="datetimeFigureOut">
              <a:rPr lang="en-GB" smtClean="0"/>
            </a:fld>
            <a:endParaRPr lang="en-GB"/>
          </a:p>
        </p:txBody>
      </p:sp>
      <p:sp>
        <p:nvSpPr>
          <p:cNvPr id="6" name="Footer Placeholder 5"/>
          <p:cNvSpPr>
            <a:spLocks noGrp="1"/>
          </p:cNvSpPr>
          <p:nvPr>
            <p:ph type="ftr" sz="quarter" idx="11"/>
          </p:nvPr>
        </p:nvSpPr>
        <p:spPr>
          <a:xfrm>
            <a:off x="2116899" y="6356350"/>
            <a:ext cx="8129391" cy="365125"/>
          </a:xfrm>
          <a:prstGeom prst="rect">
            <a:avLst/>
          </a:prstGeom>
        </p:spPr>
        <p:txBody>
          <a:bodyPr/>
          <a:lstStyle/>
          <a:p>
            <a:endParaRPr lang="en-GB"/>
          </a:p>
        </p:txBody>
      </p:sp>
      <p:sp>
        <p:nvSpPr>
          <p:cNvPr id="7" name="Slide Number Placeholder 6"/>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a:solidFill>
            <a:srgbClr val="D7014D"/>
          </a:solidFill>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endParaRPr lang="en-US" dirty="0"/>
          </a:p>
        </p:txBody>
      </p:sp>
      <p:sp>
        <p:nvSpPr>
          <p:cNvPr id="4" name="Content Placeholder 3"/>
          <p:cNvSpPr>
            <a:spLocks noGrp="1"/>
          </p:cNvSpPr>
          <p:nvPr>
            <p:ph sz="half" idx="2"/>
          </p:nvPr>
        </p:nvSpPr>
        <p:spPr>
          <a:xfrm>
            <a:off x="839788" y="2505075"/>
            <a:ext cx="5157787" cy="3684588"/>
          </a:xfrm>
        </p:spPr>
        <p:txBody>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
        <p:nvSpPr>
          <p:cNvPr id="5" name="Text Placeholder 4"/>
          <p:cNvSpPr>
            <a:spLocks noGrp="1"/>
          </p:cNvSpPr>
          <p:nvPr>
            <p:ph type="body" sz="quarter" idx="3"/>
          </p:nvPr>
        </p:nvSpPr>
        <p:spPr>
          <a:xfrm>
            <a:off x="6172200" y="1681163"/>
            <a:ext cx="5183188" cy="823912"/>
          </a:xfrm>
          <a:solidFill>
            <a:srgbClr val="FFD932"/>
          </a:solidFill>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endParaRPr lang="en-US" dirty="0"/>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7" name="Date Placeholder 6"/>
          <p:cNvSpPr>
            <a:spLocks noGrp="1"/>
          </p:cNvSpPr>
          <p:nvPr>
            <p:ph type="dt" sz="half" idx="10"/>
          </p:nvPr>
        </p:nvSpPr>
        <p:spPr/>
        <p:txBody>
          <a:bodyPr/>
          <a:lstStyle/>
          <a:p>
            <a:fld id="{145D528E-B0C4-574C-AE6E-B35A83CFEB13}" type="datetimeFigureOut">
              <a:rPr lang="en-GB" smtClean="0"/>
            </a:fld>
            <a:endParaRPr lang="en-GB"/>
          </a:p>
        </p:txBody>
      </p:sp>
      <p:sp>
        <p:nvSpPr>
          <p:cNvPr id="8" name="Footer Placeholder 7"/>
          <p:cNvSpPr>
            <a:spLocks noGrp="1"/>
          </p:cNvSpPr>
          <p:nvPr>
            <p:ph type="ftr" sz="quarter" idx="11"/>
          </p:nvPr>
        </p:nvSpPr>
        <p:spPr>
          <a:xfrm>
            <a:off x="2116899" y="6356350"/>
            <a:ext cx="8129391" cy="365125"/>
          </a:xfrm>
          <a:prstGeom prst="rect">
            <a:avLst/>
          </a:prstGeom>
        </p:spPr>
        <p:txBody>
          <a:bodyPr/>
          <a:lstStyle/>
          <a:p>
            <a:endParaRPr lang="en-GB"/>
          </a:p>
        </p:txBody>
      </p:sp>
      <p:sp>
        <p:nvSpPr>
          <p:cNvPr id="9" name="Slide Number Placeholder 8"/>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145D528E-B0C4-574C-AE6E-B35A83CFEB13}" type="datetimeFigureOut">
              <a:rPr lang="en-GB" smtClean="0"/>
            </a:fld>
            <a:endParaRPr lang="en-GB"/>
          </a:p>
        </p:txBody>
      </p:sp>
      <p:sp>
        <p:nvSpPr>
          <p:cNvPr id="4" name="Footer Placeholder 3"/>
          <p:cNvSpPr>
            <a:spLocks noGrp="1"/>
          </p:cNvSpPr>
          <p:nvPr>
            <p:ph type="ftr" sz="quarter" idx="11"/>
          </p:nvPr>
        </p:nvSpPr>
        <p:spPr>
          <a:xfrm>
            <a:off x="2116899" y="6356350"/>
            <a:ext cx="8129391" cy="365125"/>
          </a:xfrm>
          <a:prstGeom prst="rect">
            <a:avLst/>
          </a:prstGeom>
        </p:spPr>
        <p:txBody>
          <a:bodyPr/>
          <a:lstStyle/>
          <a:p>
            <a:endParaRPr lang="en-GB"/>
          </a:p>
        </p:txBody>
      </p:sp>
      <p:sp>
        <p:nvSpPr>
          <p:cNvPr id="5" name="Slide Number Placeholder 4"/>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5D528E-B0C4-574C-AE6E-B35A83CFEB13}" type="datetimeFigureOut">
              <a:rPr lang="en-GB" smtClean="0"/>
            </a:fld>
            <a:endParaRPr lang="en-GB"/>
          </a:p>
        </p:txBody>
      </p:sp>
      <p:sp>
        <p:nvSpPr>
          <p:cNvPr id="3" name="Footer Placeholder 2"/>
          <p:cNvSpPr>
            <a:spLocks noGrp="1"/>
          </p:cNvSpPr>
          <p:nvPr>
            <p:ph type="ftr" sz="quarter" idx="11"/>
          </p:nvPr>
        </p:nvSpPr>
        <p:spPr>
          <a:xfrm>
            <a:off x="2116899" y="6356350"/>
            <a:ext cx="8129391" cy="365125"/>
          </a:xfrm>
          <a:prstGeom prst="rect">
            <a:avLst/>
          </a:prstGeom>
        </p:spPr>
        <p:txBody>
          <a:bodyPr/>
          <a:lstStyle/>
          <a:p>
            <a:endParaRPr lang="en-GB"/>
          </a:p>
        </p:txBody>
      </p:sp>
      <p:sp>
        <p:nvSpPr>
          <p:cNvPr id="4" name="Slide Number Placeholder 3"/>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145D528E-B0C4-574C-AE6E-B35A83CFEB13}" type="datetimeFigureOut">
              <a:rPr lang="en-GB" smtClean="0"/>
            </a:fld>
            <a:endParaRPr lang="en-GB"/>
          </a:p>
        </p:txBody>
      </p:sp>
      <p:sp>
        <p:nvSpPr>
          <p:cNvPr id="6" name="Footer Placeholder 5"/>
          <p:cNvSpPr>
            <a:spLocks noGrp="1"/>
          </p:cNvSpPr>
          <p:nvPr>
            <p:ph type="ftr" sz="quarter" idx="11"/>
          </p:nvPr>
        </p:nvSpPr>
        <p:spPr>
          <a:xfrm>
            <a:off x="2116899" y="6356350"/>
            <a:ext cx="8129391" cy="365125"/>
          </a:xfrm>
          <a:prstGeom prst="rect">
            <a:avLst/>
          </a:prstGeom>
        </p:spPr>
        <p:txBody>
          <a:bodyPr/>
          <a:lstStyle/>
          <a:p>
            <a:endParaRPr lang="en-GB"/>
          </a:p>
        </p:txBody>
      </p:sp>
      <p:sp>
        <p:nvSpPr>
          <p:cNvPr id="7" name="Slide Number Placeholder 6"/>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145D528E-B0C4-574C-AE6E-B35A83CFEB13}" type="datetimeFigureOut">
              <a:rPr lang="en-GB" smtClean="0"/>
            </a:fld>
            <a:endParaRPr lang="en-GB"/>
          </a:p>
        </p:txBody>
      </p:sp>
      <p:sp>
        <p:nvSpPr>
          <p:cNvPr id="6" name="Footer Placeholder 5"/>
          <p:cNvSpPr>
            <a:spLocks noGrp="1"/>
          </p:cNvSpPr>
          <p:nvPr>
            <p:ph type="ftr" sz="quarter" idx="11"/>
          </p:nvPr>
        </p:nvSpPr>
        <p:spPr>
          <a:xfrm>
            <a:off x="2116899" y="6356350"/>
            <a:ext cx="8129391" cy="365125"/>
          </a:xfrm>
          <a:prstGeom prst="rect">
            <a:avLst/>
          </a:prstGeom>
        </p:spPr>
        <p:txBody>
          <a:bodyPr/>
          <a:lstStyle/>
          <a:p>
            <a:endParaRPr lang="en-GB"/>
          </a:p>
        </p:txBody>
      </p:sp>
      <p:sp>
        <p:nvSpPr>
          <p:cNvPr id="7" name="Slide Number Placeholder 6"/>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10"/>
          </p:nvPr>
        </p:nvSpPr>
        <p:spPr/>
        <p:txBody>
          <a:bodyPr/>
          <a:lstStyle/>
          <a:p>
            <a:fld id="{145D528E-B0C4-574C-AE6E-B35A83CFEB13}" type="datetimeFigureOut">
              <a:rPr lang="en-GB" smtClean="0"/>
            </a:fld>
            <a:endParaRPr lang="en-GB"/>
          </a:p>
        </p:txBody>
      </p:sp>
      <p:sp>
        <p:nvSpPr>
          <p:cNvPr id="5" name="Footer Placeholder 4"/>
          <p:cNvSpPr>
            <a:spLocks noGrp="1"/>
          </p:cNvSpPr>
          <p:nvPr>
            <p:ph type="ftr" sz="quarter" idx="11"/>
          </p:nvPr>
        </p:nvSpPr>
        <p:spPr>
          <a:xfrm>
            <a:off x="2116899" y="6356350"/>
            <a:ext cx="8129391" cy="365125"/>
          </a:xfrm>
          <a:prstGeom prst="rect">
            <a:avLst/>
          </a:prstGeom>
        </p:spPr>
        <p:txBody>
          <a:bodyPr/>
          <a:lstStyle/>
          <a:p>
            <a:endParaRPr lang="en-GB"/>
          </a:p>
        </p:txBody>
      </p:sp>
      <p:sp>
        <p:nvSpPr>
          <p:cNvPr id="6" name="Slide Number Placeholder 5"/>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10"/>
          </p:nvPr>
        </p:nvSpPr>
        <p:spPr/>
        <p:txBody>
          <a:bodyPr/>
          <a:lstStyle/>
          <a:p>
            <a:fld id="{145D528E-B0C4-574C-AE6E-B35A83CFEB13}" type="datetimeFigureOut">
              <a:rPr lang="en-GB" smtClean="0"/>
            </a:fld>
            <a:endParaRPr lang="en-GB"/>
          </a:p>
        </p:txBody>
      </p:sp>
      <p:sp>
        <p:nvSpPr>
          <p:cNvPr id="5" name="Footer Placeholder 4"/>
          <p:cNvSpPr>
            <a:spLocks noGrp="1"/>
          </p:cNvSpPr>
          <p:nvPr>
            <p:ph type="ftr" sz="quarter" idx="11"/>
          </p:nvPr>
        </p:nvSpPr>
        <p:spPr>
          <a:xfrm>
            <a:off x="2116899" y="6356350"/>
            <a:ext cx="8129391" cy="365125"/>
          </a:xfrm>
          <a:prstGeom prst="rect">
            <a:avLst/>
          </a:prstGeom>
        </p:spPr>
        <p:txBody>
          <a:bodyPr/>
          <a:lstStyle/>
          <a:p>
            <a:endParaRPr lang="en-GB"/>
          </a:p>
        </p:txBody>
      </p:sp>
      <p:sp>
        <p:nvSpPr>
          <p:cNvPr id="6" name="Slide Number Placeholder 5"/>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783EAA9A-AD91-1245-A5C3-6A0CBEF58DBD}" type="slidenum">
              <a:rPr lang="en-GB" smtClean="0"/>
            </a:fld>
            <a:endParaRPr lang="en-GB" dirty="0"/>
          </a:p>
        </p:txBody>
      </p:sp>
      <p:sp>
        <p:nvSpPr>
          <p:cNvPr id="4" name="Date Placeholder 3"/>
          <p:cNvSpPr>
            <a:spLocks noGrp="1"/>
          </p:cNvSpPr>
          <p:nvPr>
            <p:ph type="dt" sz="half" idx="11"/>
          </p:nvPr>
        </p:nvSpPr>
        <p:spPr/>
        <p:txBody>
          <a:bodyPr/>
          <a:lstStyle/>
          <a:p>
            <a:fld id="{145D528E-B0C4-574C-AE6E-B35A83CFEB13}" type="datetimeFigureOut">
              <a:rPr lang="en-GB" smtClean="0"/>
            </a:fld>
            <a:endParaRPr lang="en-GB" dirty="0"/>
          </a:p>
        </p:txBody>
      </p:sp>
      <p:sp>
        <p:nvSpPr>
          <p:cNvPr id="5" name="Footer Placeholder 4"/>
          <p:cNvSpPr>
            <a:spLocks noGrp="1"/>
          </p:cNvSpPr>
          <p:nvPr>
            <p:ph type="ftr" sz="quarter" idx="12"/>
          </p:nvPr>
        </p:nvSpPr>
        <p:spPr/>
        <p:txBody>
          <a:bodyPr/>
          <a:lstStyle/>
          <a:p>
            <a:endParaRPr lang="en-GB" dirty="0"/>
          </a:p>
        </p:txBody>
      </p:sp>
      <p:grpSp>
        <p:nvGrpSpPr>
          <p:cNvPr id="20" name="Group 19"/>
          <p:cNvGrpSpPr/>
          <p:nvPr userDrawn="1"/>
        </p:nvGrpSpPr>
        <p:grpSpPr>
          <a:xfrm>
            <a:off x="2836065" y="3885190"/>
            <a:ext cx="6359384" cy="2140032"/>
            <a:chOff x="3054867" y="3815867"/>
            <a:chExt cx="6359384" cy="2140032"/>
          </a:xfrm>
        </p:grpSpPr>
        <p:grpSp>
          <p:nvGrpSpPr>
            <p:cNvPr id="6" name="Group 5"/>
            <p:cNvGrpSpPr/>
            <p:nvPr userDrawn="1"/>
          </p:nvGrpSpPr>
          <p:grpSpPr>
            <a:xfrm>
              <a:off x="4699683" y="3815867"/>
              <a:ext cx="4714568" cy="2140032"/>
              <a:chOff x="4173580" y="3135225"/>
              <a:chExt cx="5623246" cy="2568070"/>
            </a:xfrm>
          </p:grpSpPr>
          <p:pic>
            <p:nvPicPr>
              <p:cNvPr id="7" name="Picture 4" descr="facebook instagram whatsapp PNG image with transparent background | TOPpng"/>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0" b="69732" l="0" r="98929">
                            <a14:foregroundMark x1="9524" y1="3376" x2="23929" y2="25378"/>
                            <a14:foregroundMark x1="15833" y1="5122" x2="19643" y2="5122"/>
                            <a14:foregroundMark x1="22381" y1="8149" x2="24762" y2="21187"/>
                            <a14:foregroundMark x1="10119" y1="11409" x2="14643" y2="23632"/>
                            <a14:foregroundMark x1="7738" y1="14435" x2="11071" y2="24796"/>
                            <a14:foregroundMark x1="75000" y1="9662" x2="75833" y2="23865"/>
                            <a14:foregroundMark x1="76548" y1="7800" x2="89643" y2="8964"/>
                            <a14:foregroundMark x1="82976" y1="2328" x2="91786" y2="20722"/>
                            <a14:foregroundMark x1="78452" y1="21769" x2="87024" y2="20605"/>
                            <a14:foregroundMark x1="83333" y1="14668" x2="83333" y2="14668"/>
                            <a14:foregroundMark x1="90357" y1="9895" x2="91190" y2="17695"/>
                            <a14:foregroundMark x1="17500" y1="9546" x2="17738" y2="17346"/>
                            <a14:foregroundMark x1="23929" y1="3609" x2="23333" y2="10128"/>
                          </a14:backgroundRemoval>
                        </a14:imgEffect>
                      </a14:imgLayer>
                    </a14:imgProps>
                  </a:ext>
                  <a:ext uri="{28A0092B-C50C-407E-A947-70E740481C1C}">
                    <a14:useLocalDpi xmlns:a14="http://schemas.microsoft.com/office/drawing/2010/main" val="0"/>
                  </a:ext>
                </a:extLst>
              </a:blip>
              <a:srcRect r="66494" b="67238"/>
              <a:stretch>
                <a:fillRect/>
              </a:stretch>
            </p:blipFill>
            <p:spPr bwMode="auto">
              <a:xfrm>
                <a:off x="4238019" y="4511394"/>
                <a:ext cx="413410" cy="4299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facebook instagram whatsapp PNG image with transparent background | TOPpng"/>
              <p:cNvPicPr>
                <a:picLocks noChangeAspect="1" noChangeArrowheads="1"/>
              </p:cNvPicPr>
              <p:nvPr/>
            </p:nvPicPr>
            <p:blipFill rotWithShape="1">
              <a:blip r:embed="rId4">
                <a:extLst>
                  <a:ext uri="{BEBA8EAE-BF5A-486C-A8C5-ECC9F3942E4B}">
                    <a14:imgProps xmlns:a14="http://schemas.microsoft.com/office/drawing/2010/main">
                      <a14:imgLayer r:embed="rId3">
                        <a14:imgEffect>
                          <a14:backgroundRemoval t="0" b="89872" l="1548" r="97619">
                            <a14:foregroundMark x1="76310" y1="9197" x2="75595" y2="18859"/>
                            <a14:foregroundMark x1="80833" y1="7101" x2="90595" y2="8731"/>
                            <a14:foregroundMark x1="90595" y1="12806" x2="89048" y2="22468"/>
                            <a14:foregroundMark x1="77738" y1="22119" x2="86667" y2="21769"/>
                            <a14:foregroundMark x1="12262" y1="42491" x2="11071" y2="58091"/>
                            <a14:foregroundMark x1="82976" y1="11991" x2="80119" y2="17346"/>
                            <a14:foregroundMark x1="73690" y1="5471" x2="70952" y2="18626"/>
                          </a14:backgroundRemoval>
                        </a14:imgEffect>
                      </a14:imgLayer>
                    </a14:imgProps>
                  </a:ext>
                  <a:ext uri="{28A0092B-C50C-407E-A947-70E740481C1C}">
                    <a14:useLocalDpi xmlns:a14="http://schemas.microsoft.com/office/drawing/2010/main" val="0"/>
                  </a:ext>
                </a:extLst>
              </a:blip>
              <a:srcRect l="67402" b="69905"/>
              <a:stretch>
                <a:fillRect/>
              </a:stretch>
            </p:blipFill>
            <p:spPr bwMode="auto">
              <a:xfrm>
                <a:off x="4296096" y="4883265"/>
                <a:ext cx="413865" cy="4063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Round black telephone logo, Telephone Icon, Phone File, electronics, logo,  black And White png | PNGWing"/>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0" b="97935" l="1522" r="100000">
                            <a14:foregroundMark x1="32717" y1="37283" x2="32717" y2="37283"/>
                            <a14:foregroundMark x1="36957" y1="24565" x2="36957" y2="24565"/>
                            <a14:foregroundMark x1="46304" y1="30435" x2="46304" y2="30435"/>
                            <a14:foregroundMark x1="55435" y1="30326" x2="55435" y2="30326"/>
                            <a14:foregroundMark x1="65870" y1="27826" x2="65870" y2="27826"/>
                            <a14:foregroundMark x1="73152" y1="43478" x2="73152" y2="43478"/>
                            <a14:foregroundMark x1="57500" y1="44783" x2="57500" y2="44783"/>
                            <a14:foregroundMark x1="42826" y1="45000" x2="42826" y2="45000"/>
                            <a14:foregroundMark x1="29348" y1="56413" x2="29348" y2="56413"/>
                            <a14:foregroundMark x1="37283" y1="73913" x2="37283" y2="73913"/>
                            <a14:foregroundMark x1="46630" y1="70870" x2="46630" y2="70870"/>
                            <a14:foregroundMark x1="46087" y1="56413" x2="46087" y2="56413"/>
                            <a14:foregroundMark x1="54022" y1="57500" x2="54022" y2="57500"/>
                            <a14:foregroundMark x1="53696" y1="74457" x2="53696" y2="74457"/>
                            <a14:foregroundMark x1="71630" y1="60761" x2="71630" y2="60761"/>
                            <a14:foregroundMark x1="62283" y1="73696" x2="62283" y2="73696"/>
                          </a14:backgroundRemoval>
                        </a14:imgEffect>
                      </a14:imgLayer>
                    </a14:imgProps>
                  </a:ext>
                  <a:ext uri="{28A0092B-C50C-407E-A947-70E740481C1C}">
                    <a14:useLocalDpi xmlns:a14="http://schemas.microsoft.com/office/drawing/2010/main" val="0"/>
                  </a:ext>
                </a:extLst>
              </a:blip>
              <a:srcRect/>
              <a:stretch>
                <a:fillRect/>
              </a:stretch>
            </p:blipFill>
            <p:spPr bwMode="auto">
              <a:xfrm>
                <a:off x="4275797" y="5317157"/>
                <a:ext cx="371315" cy="38613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4629313" y="4929543"/>
                <a:ext cx="2964236" cy="360103"/>
              </a:xfrm>
              <a:prstGeom prst="rect">
                <a:avLst/>
              </a:prstGeom>
              <a:noFill/>
            </p:spPr>
            <p:txBody>
              <a:bodyPr wrap="square">
                <a:spAutoFit/>
              </a:bodyPr>
              <a:lstStyle/>
              <a:p>
                <a:pPr defTabSz="685800"/>
                <a:r>
                  <a:rPr lang="en-US" sz="1350" dirty="0">
                    <a:solidFill>
                      <a:prstClr val="black"/>
                    </a:solidFill>
                    <a:latin typeface="+mn-lt"/>
                  </a:rPr>
                  <a:t>@</a:t>
                </a:r>
                <a:r>
                  <a:rPr lang="en-US" sz="1350" dirty="0" err="1">
                    <a:solidFill>
                      <a:prstClr val="black"/>
                    </a:solidFill>
                    <a:latin typeface="+mn-lt"/>
                  </a:rPr>
                  <a:t>ugandachristianuniversity</a:t>
                </a:r>
                <a:endParaRPr lang="en-US" sz="1350" dirty="0">
                  <a:solidFill>
                    <a:prstClr val="black"/>
                  </a:solidFill>
                  <a:latin typeface="+mn-lt"/>
                </a:endParaRPr>
              </a:p>
            </p:txBody>
          </p:sp>
          <p:sp>
            <p:nvSpPr>
              <p:cNvPr id="11" name="TextBox 10"/>
              <p:cNvSpPr txBox="1"/>
              <p:nvPr/>
            </p:nvSpPr>
            <p:spPr>
              <a:xfrm>
                <a:off x="4570065" y="5343192"/>
                <a:ext cx="2851459" cy="360103"/>
              </a:xfrm>
              <a:prstGeom prst="rect">
                <a:avLst/>
              </a:prstGeom>
              <a:noFill/>
            </p:spPr>
            <p:txBody>
              <a:bodyPr wrap="square">
                <a:spAutoFit/>
              </a:bodyPr>
              <a:lstStyle/>
              <a:p>
                <a:pPr defTabSz="685800"/>
                <a:r>
                  <a:rPr lang="en-GB" sz="1350" dirty="0">
                    <a:solidFill>
                      <a:srgbClr val="0000FF"/>
                    </a:solidFill>
                    <a:latin typeface="+mn-lt"/>
                    <a:hlinkClick r:id="rId7"/>
                  </a:rPr>
                  <a:t>https://ucu.ac.ug/</a:t>
                </a:r>
                <a:r>
                  <a:rPr lang="en-GB" sz="1350" dirty="0">
                    <a:solidFill>
                      <a:srgbClr val="0000FF"/>
                    </a:solidFill>
                    <a:latin typeface="+mn-lt"/>
                  </a:rPr>
                  <a:t> </a:t>
                </a:r>
                <a:endParaRPr lang="en-US" sz="1350" dirty="0">
                  <a:solidFill>
                    <a:srgbClr val="0000FF"/>
                  </a:solidFill>
                  <a:latin typeface="+mn-lt"/>
                </a:endParaRPr>
              </a:p>
            </p:txBody>
          </p:sp>
          <p:sp>
            <p:nvSpPr>
              <p:cNvPr id="12" name="TextBox 11"/>
              <p:cNvSpPr txBox="1"/>
              <p:nvPr/>
            </p:nvSpPr>
            <p:spPr>
              <a:xfrm>
                <a:off x="8015811" y="4532448"/>
                <a:ext cx="1781015" cy="369337"/>
              </a:xfrm>
              <a:prstGeom prst="rect">
                <a:avLst/>
              </a:prstGeom>
              <a:noFill/>
            </p:spPr>
            <p:txBody>
              <a:bodyPr wrap="square">
                <a:spAutoFit/>
              </a:bodyPr>
              <a:lstStyle/>
              <a:p>
                <a:pPr defTabSz="685800"/>
                <a:r>
                  <a:rPr lang="en-GB" sz="1350" dirty="0">
                    <a:solidFill>
                      <a:prstClr val="black">
                        <a:lumMod val="95000"/>
                        <a:lumOff val="5000"/>
                      </a:prstClr>
                    </a:solidFill>
                    <a:latin typeface="+mn-lt"/>
                  </a:rPr>
                  <a:t>@</a:t>
                </a:r>
                <a:r>
                  <a:rPr lang="en-GB" sz="1350" dirty="0" err="1">
                    <a:solidFill>
                      <a:prstClr val="black">
                        <a:lumMod val="95000"/>
                        <a:lumOff val="5000"/>
                      </a:prstClr>
                    </a:solidFill>
                    <a:latin typeface="+mn-lt"/>
                  </a:rPr>
                  <a:t>UCUniversity</a:t>
                </a:r>
                <a:endParaRPr lang="en-US" sz="1350" dirty="0">
                  <a:solidFill>
                    <a:prstClr val="black">
                      <a:lumMod val="95000"/>
                      <a:lumOff val="5000"/>
                    </a:prstClr>
                  </a:solidFill>
                  <a:latin typeface="+mn-lt"/>
                </a:endParaRPr>
              </a:p>
            </p:txBody>
          </p:sp>
          <p:sp>
            <p:nvSpPr>
              <p:cNvPr id="13" name="TextBox 12"/>
              <p:cNvSpPr txBox="1"/>
              <p:nvPr/>
            </p:nvSpPr>
            <p:spPr>
              <a:xfrm>
                <a:off x="4535920" y="4545114"/>
                <a:ext cx="3240067" cy="369337"/>
              </a:xfrm>
              <a:prstGeom prst="rect">
                <a:avLst/>
              </a:prstGeom>
              <a:noFill/>
            </p:spPr>
            <p:txBody>
              <a:bodyPr wrap="square">
                <a:spAutoFit/>
              </a:bodyPr>
              <a:lstStyle/>
              <a:p>
                <a:pPr defTabSz="685800"/>
                <a:r>
                  <a:rPr lang="en-GB" sz="1350" dirty="0">
                    <a:solidFill>
                      <a:prstClr val="black">
                        <a:lumMod val="95000"/>
                        <a:lumOff val="5000"/>
                      </a:prstClr>
                    </a:solidFill>
                    <a:latin typeface="+mn-lt"/>
                  </a:rPr>
                  <a:t>@</a:t>
                </a:r>
                <a:r>
                  <a:rPr lang="en-GB" sz="1350" dirty="0" err="1">
                    <a:solidFill>
                      <a:prstClr val="black">
                        <a:lumMod val="95000"/>
                        <a:lumOff val="5000"/>
                      </a:prstClr>
                    </a:solidFill>
                    <a:latin typeface="+mn-lt"/>
                  </a:rPr>
                  <a:t>UgandaChristianUniversity</a:t>
                </a:r>
                <a:endParaRPr lang="en-US" sz="1350" dirty="0">
                  <a:solidFill>
                    <a:prstClr val="black">
                      <a:lumMod val="95000"/>
                      <a:lumOff val="5000"/>
                    </a:prstClr>
                  </a:solidFill>
                  <a:latin typeface="+mn-lt"/>
                </a:endParaRPr>
              </a:p>
            </p:txBody>
          </p:sp>
          <p:sp>
            <p:nvSpPr>
              <p:cNvPr id="14" name="TextBox 13"/>
              <p:cNvSpPr txBox="1"/>
              <p:nvPr/>
            </p:nvSpPr>
            <p:spPr>
              <a:xfrm>
                <a:off x="4201882" y="3514011"/>
                <a:ext cx="3513911" cy="886408"/>
              </a:xfrm>
              <a:prstGeom prst="rect">
                <a:avLst/>
              </a:prstGeom>
              <a:noFill/>
            </p:spPr>
            <p:txBody>
              <a:bodyPr wrap="square">
                <a:spAutoFit/>
              </a:bodyPr>
              <a:lstStyle/>
              <a:p>
                <a:pPr defTabSz="685800"/>
                <a:r>
                  <a:rPr lang="sv-SE" sz="1400" dirty="0">
                    <a:solidFill>
                      <a:srgbClr val="5B9BD5">
                        <a:lumMod val="50000"/>
                      </a:srgbClr>
                    </a:solidFill>
                    <a:latin typeface="+mn-lt"/>
                  </a:rPr>
                  <a:t>P.O. Box 4 Mukono, Uganda</a:t>
                </a:r>
                <a:endParaRPr lang="sv-SE" sz="1400" dirty="0">
                  <a:solidFill>
                    <a:srgbClr val="5B9BD5">
                      <a:lumMod val="50000"/>
                    </a:srgbClr>
                  </a:solidFill>
                  <a:latin typeface="+mn-lt"/>
                </a:endParaRPr>
              </a:p>
              <a:p>
                <a:pPr defTabSz="685800"/>
                <a:r>
                  <a:rPr lang="en-GB" sz="1400" dirty="0">
                    <a:solidFill>
                      <a:srgbClr val="5B9BD5">
                        <a:lumMod val="50000"/>
                      </a:srgbClr>
                    </a:solidFill>
                    <a:latin typeface="+mn-lt"/>
                  </a:rPr>
                  <a:t>Tel: 256-312-350800</a:t>
                </a:r>
                <a:endParaRPr lang="en-GB" sz="1400" dirty="0">
                  <a:solidFill>
                    <a:srgbClr val="5B9BD5">
                      <a:lumMod val="50000"/>
                    </a:srgbClr>
                  </a:solidFill>
                  <a:latin typeface="+mn-lt"/>
                </a:endParaRPr>
              </a:p>
              <a:p>
                <a:pPr defTabSz="685800"/>
                <a:r>
                  <a:rPr lang="fr-FR" sz="1400" dirty="0">
                    <a:solidFill>
                      <a:srgbClr val="5B9BD5">
                        <a:lumMod val="50000"/>
                      </a:srgbClr>
                    </a:solidFill>
                    <a:latin typeface="+mn-lt"/>
                  </a:rPr>
                  <a:t>Email: </a:t>
                </a:r>
                <a:r>
                  <a:rPr lang="fr-FR" sz="1400" dirty="0">
                    <a:solidFill>
                      <a:srgbClr val="0000FF"/>
                    </a:solidFill>
                    <a:latin typeface="+mn-lt"/>
                    <a:hlinkClick r:id="rId8"/>
                  </a:rPr>
                  <a:t>info@ucu.ac.ug</a:t>
                </a:r>
                <a:endParaRPr lang="fr-FR" sz="1400" dirty="0">
                  <a:solidFill>
                    <a:srgbClr val="0000FF"/>
                  </a:solidFill>
                  <a:latin typeface="+mn-lt"/>
                </a:endParaRPr>
              </a:p>
            </p:txBody>
          </p:sp>
          <p:sp>
            <p:nvSpPr>
              <p:cNvPr id="15" name="TextBox 14"/>
              <p:cNvSpPr txBox="1"/>
              <p:nvPr/>
            </p:nvSpPr>
            <p:spPr>
              <a:xfrm>
                <a:off x="4173580" y="3135225"/>
                <a:ext cx="4174871" cy="480138"/>
              </a:xfrm>
              <a:prstGeom prst="rect">
                <a:avLst/>
              </a:prstGeom>
              <a:noFill/>
            </p:spPr>
            <p:txBody>
              <a:bodyPr wrap="square">
                <a:spAutoFit/>
              </a:bodyPr>
              <a:lstStyle/>
              <a:p>
                <a:pPr defTabSz="685800"/>
                <a:r>
                  <a:rPr lang="en-GB" sz="2000" b="1" dirty="0">
                    <a:solidFill>
                      <a:srgbClr val="5B9BD5">
                        <a:lumMod val="50000"/>
                      </a:srgbClr>
                    </a:solidFill>
                    <a:latin typeface="+mj-lt"/>
                  </a:rPr>
                  <a:t>Uganda Christian University</a:t>
                </a:r>
                <a:endParaRPr lang="en-US" sz="2000" dirty="0">
                  <a:solidFill>
                    <a:srgbClr val="5B9BD5">
                      <a:lumMod val="50000"/>
                    </a:srgbClr>
                  </a:solidFill>
                  <a:latin typeface="+mj-lt"/>
                </a:endParaRPr>
              </a:p>
            </p:txBody>
          </p:sp>
          <p:pic>
            <p:nvPicPr>
              <p:cNvPr id="16" name="Picture 6" descr="facebook instagram whatsapp PNG image with transparent background | TOPpng"/>
              <p:cNvPicPr>
                <a:picLocks noChangeAspect="1" noChangeArrowheads="1"/>
              </p:cNvPicPr>
              <p:nvPr userDrawn="1"/>
            </p:nvPicPr>
            <p:blipFill rotWithShape="1">
              <a:blip r:embed="rId4">
                <a:extLst>
                  <a:ext uri="{BEBA8EAE-BF5A-486C-A8C5-ECC9F3942E4B}">
                    <a14:imgProps xmlns:a14="http://schemas.microsoft.com/office/drawing/2010/main">
                      <a14:imgLayer r:embed="rId3">
                        <a14:imgEffect>
                          <a14:backgroundRemoval t="0" b="89872" l="1548" r="97619">
                            <a14:foregroundMark x1="76310" y1="9197" x2="75595" y2="18859"/>
                            <a14:foregroundMark x1="80833" y1="7101" x2="90595" y2="8731"/>
                            <a14:foregroundMark x1="90595" y1="12806" x2="89048" y2="22468"/>
                            <a14:foregroundMark x1="77738" y1="22119" x2="86667" y2="21769"/>
                            <a14:foregroundMark x1="12262" y1="42491" x2="11071" y2="58091"/>
                            <a14:foregroundMark x1="82976" y1="11991" x2="80119" y2="17346"/>
                            <a14:foregroundMark x1="73690" y1="5471" x2="70952" y2="18626"/>
                          </a14:backgroundRemoval>
                        </a14:imgEffect>
                      </a14:imgLayer>
                    </a14:imgProps>
                  </a:ext>
                  <a:ext uri="{28A0092B-C50C-407E-A947-70E740481C1C}">
                    <a14:useLocalDpi xmlns:a14="http://schemas.microsoft.com/office/drawing/2010/main" val="0"/>
                  </a:ext>
                </a:extLst>
              </a:blip>
              <a:srcRect t="34921" r="64675" b="31937"/>
              <a:stretch>
                <a:fillRect/>
              </a:stretch>
            </p:blipFill>
            <p:spPr bwMode="auto">
              <a:xfrm>
                <a:off x="7686943" y="4513314"/>
                <a:ext cx="448492" cy="447534"/>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18"/>
            <p:cNvPicPr>
              <a:picLocks noChangeAspect="1"/>
            </p:cNvPicPr>
            <p:nvPr userDrawn="1"/>
          </p:nvPicPr>
          <p:blipFill rotWithShape="1">
            <a:blip r:embed="rId9"/>
            <a:srcRect l="4177" t="16271" r="77310" b="16737"/>
            <a:stretch>
              <a:fillRect/>
            </a:stretch>
          </p:blipFill>
          <p:spPr>
            <a:xfrm>
              <a:off x="3054867" y="3883165"/>
              <a:ext cx="1730515" cy="1908000"/>
            </a:xfrm>
            <a:prstGeom prst="rect">
              <a:avLst/>
            </a:prstGeom>
          </p:spPr>
        </p:pic>
      </p:grpSp>
      <p:pic>
        <p:nvPicPr>
          <p:cNvPr id="21" name="Picture 2" descr="Red button thank you icon Royalty Free Vector Image"/>
          <p:cNvPicPr>
            <a:picLocks noChangeAspect="1" noChangeArrowheads="1"/>
          </p:cNvPicPr>
          <p:nvPr userDrawn="1"/>
        </p:nvPicPr>
        <p:blipFill rotWithShape="1">
          <a:blip r:embed="rId10">
            <a:extLst>
              <a:ext uri="{BEBA8EAE-BF5A-486C-A8C5-ECC9F3942E4B}">
                <a14:imgProps xmlns:a14="http://schemas.microsoft.com/office/drawing/2010/main">
                  <a14:imgLayer r:embed="rId11">
                    <a14:imgEffect>
                      <a14:backgroundRemoval t="8611" b="86019" l="10000" r="90000">
                        <a14:foregroundMark x1="41000" y1="28981" x2="39100" y2="58519"/>
                        <a14:foregroundMark x1="27700" y1="36296" x2="34800" y2="63981"/>
                        <a14:foregroundMark x1="26600" y1="32500" x2="78400" y2="47685"/>
                        <a14:foregroundMark x1="52100" y1="23981" x2="53500" y2="41389"/>
                        <a14:foregroundMark x1="38900" y1="20463" x2="49000" y2="35556"/>
                        <a14:foregroundMark x1="44200" y1="21481" x2="69600" y2="35370"/>
                        <a14:foregroundMark x1="65200" y1="24722" x2="65200" y2="44444"/>
                        <a14:foregroundMark x1="71900" y1="31852" x2="70200" y2="51389"/>
                        <a14:foregroundMark x1="69200" y1="60463" x2="59800" y2="47500"/>
                        <a14:foregroundMark x1="75300" y1="54259" x2="61100" y2="48333"/>
                        <a14:foregroundMark x1="59800" y1="30370" x2="56700" y2="41389"/>
                        <a14:foregroundMark x1="57500" y1="68426" x2="54000" y2="46759"/>
                        <a14:foregroundMark x1="38300" y1="61667" x2="67900" y2="65926"/>
                        <a14:foregroundMark x1="47100" y1="46019" x2="58300" y2="52593"/>
                        <a14:foregroundMark x1="46500" y1="58148" x2="52700" y2="57963"/>
                        <a14:foregroundMark x1="45400" y1="46204" x2="50600" y2="57407"/>
                        <a14:foregroundMark x1="36200" y1="40370" x2="46700" y2="51389"/>
                        <a14:foregroundMark x1="43100" y1="64167" x2="50600" y2="68796"/>
                      </a14:backgroundRemoval>
                    </a14:imgEffect>
                  </a14:imgLayer>
                </a14:imgProps>
              </a:ext>
              <a:ext uri="{28A0092B-C50C-407E-A947-70E740481C1C}">
                <a14:useLocalDpi xmlns:a14="http://schemas.microsoft.com/office/drawing/2010/main" val="0"/>
              </a:ext>
            </a:extLst>
          </a:blip>
          <a:srcRect b="13043"/>
          <a:stretch>
            <a:fillRect/>
          </a:stretch>
        </p:blipFill>
        <p:spPr bwMode="auto">
          <a:xfrm>
            <a:off x="4606336" y="1691476"/>
            <a:ext cx="1825644" cy="17041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hyperlink" Target="http://www.ucu.ac.ug/" TargetMode="External"/><Relationship Id="rId14" Type="http://schemas.openxmlformats.org/officeDocument/2006/relationships/hyperlink" Target="mailto:info@ucu.ac.ug" TargetMode="External"/><Relationship Id="rId13" Type="http://schemas.openxmlformats.org/officeDocument/2006/relationships/image" Target="../media/image6.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776791" y="0"/>
            <a:ext cx="2415209" cy="735885"/>
          </a:xfrm>
          <a:prstGeom prst="rect">
            <a:avLst/>
          </a:prstGeom>
        </p:spPr>
      </p:pic>
      <p:sp>
        <p:nvSpPr>
          <p:cNvPr id="2" name="Title Placeholder 1"/>
          <p:cNvSpPr>
            <a:spLocks noGrp="1"/>
          </p:cNvSpPr>
          <p:nvPr>
            <p:ph type="title"/>
          </p:nvPr>
        </p:nvSpPr>
        <p:spPr>
          <a:xfrm>
            <a:off x="838200" y="365126"/>
            <a:ext cx="10515600" cy="1143000"/>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p:cNvSpPr>
            <a:spLocks noGrp="1"/>
          </p:cNvSpPr>
          <p:nvPr>
            <p:ph type="body" idx="1"/>
          </p:nvPr>
        </p:nvSpPr>
        <p:spPr>
          <a:xfrm>
            <a:off x="838200" y="1687514"/>
            <a:ext cx="10515600" cy="4489450"/>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
        <p:nvSpPr>
          <p:cNvPr id="7" name="Rectangle 6"/>
          <p:cNvSpPr/>
          <p:nvPr userDrawn="1"/>
        </p:nvSpPr>
        <p:spPr>
          <a:xfrm>
            <a:off x="838200" y="1508126"/>
            <a:ext cx="11353800" cy="179387"/>
          </a:xfrm>
          <a:prstGeom prst="rect">
            <a:avLst/>
          </a:prstGeom>
          <a:solidFill>
            <a:srgbClr val="0B3D9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Rectangle 7"/>
          <p:cNvSpPr/>
          <p:nvPr userDrawn="1"/>
        </p:nvSpPr>
        <p:spPr>
          <a:xfrm>
            <a:off x="0" y="1508126"/>
            <a:ext cx="838200" cy="179387"/>
          </a:xfrm>
          <a:prstGeom prst="rect">
            <a:avLst/>
          </a:prstGeom>
          <a:solidFill>
            <a:srgbClr val="D7014D"/>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 name="Rectangle 11"/>
          <p:cNvSpPr/>
          <p:nvPr userDrawn="1"/>
        </p:nvSpPr>
        <p:spPr>
          <a:xfrm>
            <a:off x="838200" y="1508125"/>
            <a:ext cx="838200" cy="179387"/>
          </a:xfrm>
          <a:prstGeom prst="rect">
            <a:avLst/>
          </a:prstGeom>
          <a:solidFill>
            <a:srgbClr val="FFD93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 name="Slide Number Placeholder 5"/>
          <p:cNvSpPr>
            <a:spLocks noGrp="1"/>
          </p:cNvSpPr>
          <p:nvPr>
            <p:ph type="sldNum" sz="quarter" idx="4"/>
          </p:nvPr>
        </p:nvSpPr>
        <p:spPr>
          <a:xfrm>
            <a:off x="10809962" y="6356350"/>
            <a:ext cx="54383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3EAA9A-AD91-1245-A5C3-6A0CBEF58DBD}" type="slidenum">
              <a:rPr lang="en-GB" smtClean="0"/>
            </a:fld>
            <a:endParaRPr lang="en-GB" dirty="0"/>
          </a:p>
        </p:txBody>
      </p:sp>
      <p:sp>
        <p:nvSpPr>
          <p:cNvPr id="4" name="Date Placeholder 3"/>
          <p:cNvSpPr>
            <a:spLocks noGrp="1"/>
          </p:cNvSpPr>
          <p:nvPr>
            <p:ph type="dt" sz="half" idx="2"/>
          </p:nvPr>
        </p:nvSpPr>
        <p:spPr>
          <a:xfrm>
            <a:off x="838200" y="6356350"/>
            <a:ext cx="102817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5D528E-B0C4-574C-AE6E-B35A83CFEB13}" type="datetimeFigureOut">
              <a:rPr lang="en-GB" smtClean="0"/>
            </a:fld>
            <a:endParaRPr lang="en-GB" dirty="0"/>
          </a:p>
        </p:txBody>
      </p:sp>
      <p:sp>
        <p:nvSpPr>
          <p:cNvPr id="5" name="Footer Placeholder 4"/>
          <p:cNvSpPr>
            <a:spLocks noGrp="1"/>
          </p:cNvSpPr>
          <p:nvPr>
            <p:ph type="ftr" sz="quarter" idx="3"/>
          </p:nvPr>
        </p:nvSpPr>
        <p:spPr>
          <a:xfrm>
            <a:off x="2116899" y="6251714"/>
            <a:ext cx="8129391" cy="469762"/>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15" name="TextBox 14"/>
          <p:cNvSpPr txBox="1"/>
          <p:nvPr userDrawn="1"/>
        </p:nvSpPr>
        <p:spPr>
          <a:xfrm>
            <a:off x="3975652" y="6176964"/>
            <a:ext cx="3627783" cy="646331"/>
          </a:xfrm>
          <a:prstGeom prst="rect">
            <a:avLst/>
          </a:prstGeom>
          <a:noFill/>
        </p:spPr>
        <p:txBody>
          <a:bodyPr wrap="square" rtlCol="0">
            <a:spAutoFit/>
          </a:bodyPr>
          <a:lstStyle/>
          <a:p>
            <a:pPr algn="ctr"/>
            <a:r>
              <a:rPr lang="en-GB" sz="850" b="1" dirty="0">
                <a:solidFill>
                  <a:srgbClr val="0B3D91"/>
                </a:solidFill>
              </a:rPr>
              <a:t>A Complete Education for A Complete Person</a:t>
            </a:r>
            <a:endParaRPr lang="en-GB" sz="850" b="1" dirty="0">
              <a:solidFill>
                <a:srgbClr val="0B3D91"/>
              </a:solidFill>
            </a:endParaRPr>
          </a:p>
          <a:p>
            <a:pPr algn="ctr"/>
            <a:br>
              <a:rPr lang="en-GB" sz="700" dirty="0"/>
            </a:br>
            <a:r>
              <a:rPr lang="en-GB" sz="700" dirty="0"/>
              <a:t>P.O. Box 4, </a:t>
            </a:r>
            <a:r>
              <a:rPr lang="en-GB" sz="700" dirty="0" err="1"/>
              <a:t>Mukono</a:t>
            </a:r>
            <a:r>
              <a:rPr lang="en-GB" sz="700" dirty="0"/>
              <a:t>, Uganda, Plot 67-173, Bishop Tucker Road, </a:t>
            </a:r>
            <a:r>
              <a:rPr lang="en-GB" sz="700" dirty="0" err="1"/>
              <a:t>Mukono</a:t>
            </a:r>
            <a:r>
              <a:rPr lang="en-GB" sz="700" dirty="0"/>
              <a:t> Hill</a:t>
            </a:r>
            <a:endParaRPr lang="en-US" sz="700" dirty="0"/>
          </a:p>
          <a:p>
            <a:pPr algn="ctr"/>
            <a:r>
              <a:rPr lang="en-GB" sz="700" dirty="0"/>
              <a:t>Tel: +256 (0) 312 350 800 Email: </a:t>
            </a:r>
            <a:r>
              <a:rPr lang="en-GB" sz="700" u="sng" dirty="0">
                <a:solidFill>
                  <a:srgbClr val="0000FF"/>
                </a:solidFill>
                <a:hlinkClick r:id="rId14"/>
              </a:rPr>
              <a:t>info@ucu.ac.ug</a:t>
            </a:r>
            <a:r>
              <a:rPr lang="en-GB" sz="700" dirty="0">
                <a:solidFill>
                  <a:srgbClr val="0000FF"/>
                </a:solidFill>
              </a:rPr>
              <a:t> </a:t>
            </a:r>
            <a:r>
              <a:rPr lang="en-GB" sz="700" dirty="0"/>
              <a:t>Web: </a:t>
            </a:r>
            <a:r>
              <a:rPr lang="en-GB" sz="700" u="sng" dirty="0">
                <a:solidFill>
                  <a:srgbClr val="0000FF"/>
                </a:solidFill>
              </a:rPr>
              <a:t>https://</a:t>
            </a:r>
            <a:r>
              <a:rPr lang="en-GB" sz="700" u="sng" dirty="0">
                <a:solidFill>
                  <a:srgbClr val="0000FF"/>
                </a:solidFill>
                <a:hlinkClick r:id="rId15"/>
              </a:rPr>
              <a:t>ucu.ac.ug</a:t>
            </a:r>
            <a:endParaRPr lang="en-US" sz="700" u="sng" dirty="0">
              <a:solidFill>
                <a:srgbClr val="0000FF"/>
              </a:solidFill>
            </a:endParaRPr>
          </a:p>
          <a:p>
            <a:pPr algn="ctr"/>
            <a:r>
              <a:rPr lang="en-GB" sz="650" dirty="0"/>
              <a:t>Founded by the Province of the Church of Uganda. Chartered by the Government of Uganda</a:t>
            </a:r>
            <a:endParaRPr lang="en-US" sz="650" dirty="0"/>
          </a:p>
        </p:txBody>
      </p:sp>
      <p:cxnSp>
        <p:nvCxnSpPr>
          <p:cNvPr id="17" name="Straight Connector 16"/>
          <p:cNvCxnSpPr/>
          <p:nvPr userDrawn="1"/>
        </p:nvCxnSpPr>
        <p:spPr>
          <a:xfrm>
            <a:off x="0" y="6395027"/>
            <a:ext cx="12192000" cy="0"/>
          </a:xfrm>
          <a:prstGeom prst="line">
            <a:avLst/>
          </a:prstGeom>
          <a:ln w="12700">
            <a:solidFill>
              <a:srgbClr val="D70167"/>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rgbClr val="1F497D"/>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D7014D"/>
        </a:buClr>
        <a:buFont typeface="Wingdings" panose="05000000000000000000" pitchFamily="2" charset="2"/>
        <a:buChar char="q"/>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B3D91"/>
        </a:buClr>
        <a:buSzPct val="95000"/>
        <a:buFont typeface="Wingdings" panose="05000000000000000000" pitchFamily="2" charset="2"/>
        <a:buChar char="q"/>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D70167"/>
        </a:buClr>
        <a:buSzPct val="90000"/>
        <a:buFont typeface="Wingdings" panose="05000000000000000000" pitchFamily="2" charset="2"/>
        <a:buChar char="q"/>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D70167"/>
        </a:buClr>
        <a:buSzPct val="88000"/>
        <a:buFont typeface="Wingdings" panose="05000000000000000000" pitchFamily="2" charset="2"/>
        <a:buChar char="q"/>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7931"/>
        </a:buClr>
        <a:buSzPct val="86000"/>
        <a:buFont typeface="Wingdings" panose="05000000000000000000" pitchFamily="2" charset="2"/>
        <a:buChar char="q"/>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chart" Target="../charts/char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805305"/>
            <a:ext cx="9144000" cy="3002915"/>
          </a:xfrm>
        </p:spPr>
        <p:txBody>
          <a:bodyPr>
            <a:normAutofit/>
          </a:bodyPr>
          <a:lstStyle/>
          <a:p>
            <a:r>
              <a:rPr lang="en-US" altLang="en-GB" sz="4000" dirty="0"/>
              <a:t>Predicting PM2.5 Air Quality from AirQo Sensor Data</a:t>
            </a:r>
            <a:endParaRPr lang="en-US" altLang="en-GB" sz="4000" dirty="0"/>
          </a:p>
        </p:txBody>
      </p:sp>
      <p:sp>
        <p:nvSpPr>
          <p:cNvPr id="3" name="Subtitle 2"/>
          <p:cNvSpPr>
            <a:spLocks noGrp="1"/>
          </p:cNvSpPr>
          <p:nvPr>
            <p:ph type="subTitle" idx="1"/>
          </p:nvPr>
        </p:nvSpPr>
        <p:spPr>
          <a:xfrm>
            <a:off x="1524000" y="4990465"/>
            <a:ext cx="9144000" cy="895985"/>
          </a:xfrm>
        </p:spPr>
        <p:txBody>
          <a:bodyPr>
            <a:normAutofit lnSpcReduction="10000"/>
          </a:bodyPr>
          <a:lstStyle/>
          <a:p>
            <a:r>
              <a:rPr lang="en-US" altLang="en-GB" dirty="0"/>
              <a:t>CSC3119: AI Deployment &amp; Scalability · Assignment 4</a:t>
            </a:r>
            <a:endParaRPr lang="en-US" altLang="en-GB" dirty="0"/>
          </a:p>
          <a:p>
            <a:r>
              <a:rPr lang="en-US" altLang="en-GB" dirty="0"/>
              <a:t>Mirembe Peace Mercy / M24B23/005 / B27499</a:t>
            </a:r>
            <a:endParaRPr lang="en-US" alt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5800" y="685800"/>
            <a:ext cx="9052560" cy="777240"/>
          </a:xfrm>
        </p:spPr>
        <p:txBody>
          <a:bodyPr anchor="ctr"/>
          <a:lstStyle/>
          <a:p>
            <a:r>
              <a:rPr sz="3000"/>
              <a:t>Why forecasting PM2.5 matters for Kampala</a:t>
            </a:r>
            <a:endParaRPr sz="3000"/>
          </a:p>
        </p:txBody>
      </p:sp>
      <p:sp>
        <p:nvSpPr>
          <p:cNvPr id="3" name="Rounded Rectangle 2"/>
          <p:cNvSpPr/>
          <p:nvPr/>
        </p:nvSpPr>
        <p:spPr>
          <a:xfrm>
            <a:off x="685800" y="1965960"/>
            <a:ext cx="3383280" cy="132588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039112"/>
            <a:ext cx="3200400" cy="731520"/>
          </a:xfrm>
          <a:prstGeom prst="rect">
            <a:avLst/>
          </a:prstGeom>
          <a:noFill/>
        </p:spPr>
        <p:txBody>
          <a:bodyPr wrap="square" lIns="45720" tIns="27432" rIns="45720" bIns="27432" anchor="t">
            <a:spAutoFit/>
          </a:bodyPr>
          <a:lstStyle/>
          <a:p>
            <a:pPr algn="ctr">
              <a:spcAft>
                <a:spcPts val="600"/>
              </a:spcAft>
            </a:pPr>
            <a:r>
              <a:rPr sz="3400" b="1" i="0">
                <a:solidFill>
                  <a:srgbClr val="0B3D91"/>
                </a:solidFill>
              </a:rPr>
              <a:t>39 µg/m³</a:t>
            </a:r>
            <a:endParaRPr sz="3400" b="1" i="0">
              <a:solidFill>
                <a:srgbClr val="0B3D91"/>
              </a:solidFill>
            </a:endParaRPr>
          </a:p>
        </p:txBody>
      </p:sp>
      <p:sp>
        <p:nvSpPr>
          <p:cNvPr id="5" name="TextBox 4"/>
          <p:cNvSpPr txBox="1"/>
          <p:nvPr/>
        </p:nvSpPr>
        <p:spPr>
          <a:xfrm>
            <a:off x="777240" y="2743200"/>
            <a:ext cx="3200400" cy="502919"/>
          </a:xfrm>
          <a:prstGeom prst="rect">
            <a:avLst/>
          </a:prstGeom>
          <a:noFill/>
        </p:spPr>
        <p:txBody>
          <a:bodyPr wrap="square" lIns="45720" tIns="27432" rIns="45720" bIns="27432" anchor="t">
            <a:spAutoFit/>
          </a:bodyPr>
          <a:lstStyle/>
          <a:p>
            <a:pPr algn="ctr">
              <a:spcAft>
                <a:spcPts val="600"/>
              </a:spcAft>
            </a:pPr>
            <a:r>
              <a:rPr sz="1200" b="0" i="0">
                <a:solidFill>
                  <a:srgbClr val="5A5A5A"/>
                </a:solidFill>
              </a:rPr>
              <a:t>Kampala annual mean PM2.5 (2018–2021)</a:t>
            </a:r>
            <a:endParaRPr sz="1200" b="0" i="0">
              <a:solidFill>
                <a:srgbClr val="5A5A5A"/>
              </a:solidFill>
            </a:endParaRPr>
          </a:p>
        </p:txBody>
      </p:sp>
      <p:sp>
        <p:nvSpPr>
          <p:cNvPr id="6" name="Rounded Rectangle 5"/>
          <p:cNvSpPr/>
          <p:nvPr/>
        </p:nvSpPr>
        <p:spPr>
          <a:xfrm>
            <a:off x="4343400" y="1965960"/>
            <a:ext cx="3383280" cy="132588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34840" y="2039112"/>
            <a:ext cx="3200400" cy="731520"/>
          </a:xfrm>
          <a:prstGeom prst="rect">
            <a:avLst/>
          </a:prstGeom>
          <a:noFill/>
        </p:spPr>
        <p:txBody>
          <a:bodyPr wrap="square" lIns="45720" tIns="27432" rIns="45720" bIns="27432" anchor="t">
            <a:spAutoFit/>
          </a:bodyPr>
          <a:lstStyle/>
          <a:p>
            <a:pPr algn="ctr">
              <a:spcAft>
                <a:spcPts val="600"/>
              </a:spcAft>
            </a:pPr>
            <a:r>
              <a:rPr sz="3400" b="1" i="0">
                <a:solidFill>
                  <a:srgbClr val="D7014D"/>
                </a:solidFill>
              </a:rPr>
              <a:t>8×</a:t>
            </a:r>
            <a:endParaRPr sz="3400" b="1" i="0">
              <a:solidFill>
                <a:srgbClr val="D7014D"/>
              </a:solidFill>
            </a:endParaRPr>
          </a:p>
        </p:txBody>
      </p:sp>
      <p:sp>
        <p:nvSpPr>
          <p:cNvPr id="8" name="TextBox 7"/>
          <p:cNvSpPr txBox="1"/>
          <p:nvPr/>
        </p:nvSpPr>
        <p:spPr>
          <a:xfrm>
            <a:off x="4434840" y="2743200"/>
            <a:ext cx="3200400" cy="502919"/>
          </a:xfrm>
          <a:prstGeom prst="rect">
            <a:avLst/>
          </a:prstGeom>
          <a:noFill/>
        </p:spPr>
        <p:txBody>
          <a:bodyPr wrap="square" lIns="45720" tIns="27432" rIns="45720" bIns="27432" anchor="t">
            <a:spAutoFit/>
          </a:bodyPr>
          <a:lstStyle/>
          <a:p>
            <a:pPr algn="ctr">
              <a:spcAft>
                <a:spcPts val="600"/>
              </a:spcAft>
            </a:pPr>
            <a:r>
              <a:rPr sz="1200" b="0" i="0">
                <a:solidFill>
                  <a:srgbClr val="5A5A5A"/>
                </a:solidFill>
              </a:rPr>
              <a:t>above the WHO annual guideline of 5 µg/m³</a:t>
            </a:r>
            <a:endParaRPr sz="1200" b="0" i="0">
              <a:solidFill>
                <a:srgbClr val="5A5A5A"/>
              </a:solidFill>
            </a:endParaRPr>
          </a:p>
        </p:txBody>
      </p:sp>
      <p:sp>
        <p:nvSpPr>
          <p:cNvPr id="9" name="Rounded Rectangle 8"/>
          <p:cNvSpPr/>
          <p:nvPr/>
        </p:nvSpPr>
        <p:spPr>
          <a:xfrm>
            <a:off x="8001000" y="1965960"/>
            <a:ext cx="3383280" cy="132588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2039112"/>
            <a:ext cx="3200400" cy="731520"/>
          </a:xfrm>
          <a:prstGeom prst="rect">
            <a:avLst/>
          </a:prstGeom>
          <a:noFill/>
        </p:spPr>
        <p:txBody>
          <a:bodyPr wrap="square" lIns="45720" tIns="27432" rIns="45720" bIns="27432" anchor="t">
            <a:spAutoFit/>
          </a:bodyPr>
          <a:lstStyle/>
          <a:p>
            <a:pPr algn="ctr">
              <a:spcAft>
                <a:spcPts val="600"/>
              </a:spcAft>
            </a:pPr>
            <a:r>
              <a:rPr sz="3400" b="1" i="0">
                <a:solidFill>
                  <a:srgbClr val="0B3D91"/>
                </a:solidFill>
              </a:rPr>
              <a:t>7,257</a:t>
            </a:r>
            <a:endParaRPr sz="3400" b="1" i="0">
              <a:solidFill>
                <a:srgbClr val="0B3D91"/>
              </a:solidFill>
            </a:endParaRPr>
          </a:p>
        </p:txBody>
      </p:sp>
      <p:sp>
        <p:nvSpPr>
          <p:cNvPr id="11" name="TextBox 10"/>
          <p:cNvSpPr txBox="1"/>
          <p:nvPr/>
        </p:nvSpPr>
        <p:spPr>
          <a:xfrm>
            <a:off x="8092440" y="2743200"/>
            <a:ext cx="3200400" cy="502919"/>
          </a:xfrm>
          <a:prstGeom prst="rect">
            <a:avLst/>
          </a:prstGeom>
          <a:noFill/>
        </p:spPr>
        <p:txBody>
          <a:bodyPr wrap="square" lIns="45720" tIns="27432" rIns="45720" bIns="27432" anchor="t">
            <a:spAutoFit/>
          </a:bodyPr>
          <a:lstStyle/>
          <a:p>
            <a:pPr algn="ctr">
              <a:spcAft>
                <a:spcPts val="600"/>
              </a:spcAft>
            </a:pPr>
            <a:r>
              <a:rPr sz="1200" b="0" i="0">
                <a:solidFill>
                  <a:srgbClr val="5A5A5A"/>
                </a:solidFill>
              </a:rPr>
              <a:t>deaths attributed to long-term PM2.5 exposure</a:t>
            </a:r>
            <a:endParaRPr sz="1200" b="0" i="0">
              <a:solidFill>
                <a:srgbClr val="5A5A5A"/>
              </a:solidFill>
            </a:endParaRPr>
          </a:p>
        </p:txBody>
      </p:sp>
      <p:sp>
        <p:nvSpPr>
          <p:cNvPr id="12" name="Rounded Rectangle 11"/>
          <p:cNvSpPr/>
          <p:nvPr/>
        </p:nvSpPr>
        <p:spPr>
          <a:xfrm>
            <a:off x="685800" y="3657600"/>
            <a:ext cx="2560320" cy="1965960"/>
          </a:xfrm>
          <a:prstGeom prst="roundRect">
            <a:avLst>
              <a:gd name="adj" fmla="val 8000"/>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680" y="3840480"/>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840480"/>
            <a:ext cx="384048" cy="384048"/>
          </a:xfrm>
          <a:prstGeom prst="rect">
            <a:avLst/>
          </a:prstGeom>
          <a:noFill/>
        </p:spPr>
        <p:txBody>
          <a:bodyPr wrap="square" lIns="45720" tIns="27432" rIns="45720" bIns="27432" anchor="ctr">
            <a:spAutoFit/>
          </a:bodyPr>
          <a:lstStyle/>
          <a:p>
            <a:pPr algn="ctr">
              <a:spcAft>
                <a:spcPts val="600"/>
              </a:spcAft>
            </a:pPr>
            <a:r>
              <a:rPr sz="1400" b="1" i="0">
                <a:solidFill>
                  <a:srgbClr val="FFFFFF"/>
                </a:solidFill>
              </a:rPr>
              <a:t>1</a:t>
            </a:r>
            <a:endParaRPr sz="1400" b="1" i="0">
              <a:solidFill>
                <a:srgbClr val="FFFFFF"/>
              </a:solidFill>
            </a:endParaRPr>
          </a:p>
        </p:txBody>
      </p:sp>
      <p:sp>
        <p:nvSpPr>
          <p:cNvPr id="15" name="TextBox 14"/>
          <p:cNvSpPr txBox="1"/>
          <p:nvPr/>
        </p:nvSpPr>
        <p:spPr>
          <a:xfrm>
            <a:off x="1371600" y="3840480"/>
            <a:ext cx="1828800" cy="411480"/>
          </a:xfrm>
          <a:prstGeom prst="rect">
            <a:avLst/>
          </a:prstGeom>
          <a:noFill/>
        </p:spPr>
        <p:txBody>
          <a:bodyPr wrap="square" lIns="45720" tIns="27432" rIns="45720" bIns="27432" anchor="ctr">
            <a:spAutoFit/>
          </a:bodyPr>
          <a:lstStyle/>
          <a:p>
            <a:pPr algn="l">
              <a:spcAft>
                <a:spcPts val="600"/>
              </a:spcAft>
            </a:pPr>
            <a:r>
              <a:rPr sz="1400" b="1" i="0">
                <a:solidFill>
                  <a:srgbClr val="0B3D91"/>
                </a:solidFill>
              </a:rPr>
              <a:t>Health sector</a:t>
            </a:r>
            <a:endParaRPr sz="1400" b="1" i="0">
              <a:solidFill>
                <a:srgbClr val="0B3D91"/>
              </a:solidFill>
            </a:endParaRPr>
          </a:p>
        </p:txBody>
      </p:sp>
      <p:sp>
        <p:nvSpPr>
          <p:cNvPr id="16" name="TextBox 15"/>
          <p:cNvSpPr txBox="1"/>
          <p:nvPr/>
        </p:nvSpPr>
        <p:spPr>
          <a:xfrm>
            <a:off x="868680" y="4389120"/>
            <a:ext cx="2240280" cy="1188720"/>
          </a:xfrm>
          <a:prstGeom prst="rect">
            <a:avLst/>
          </a:prstGeom>
          <a:noFill/>
        </p:spPr>
        <p:txBody>
          <a:bodyPr wrap="square" lIns="45720" tIns="27432" rIns="45720" bIns="27432" anchor="t">
            <a:spAutoFit/>
          </a:bodyPr>
          <a:lstStyle/>
          <a:p>
            <a:pPr algn="l">
              <a:spcAft>
                <a:spcPts val="600"/>
              </a:spcAft>
            </a:pPr>
            <a:r>
              <a:rPr sz="1200" b="0" i="0">
                <a:solidFill>
                  <a:srgbClr val="222222"/>
                </a:solidFill>
              </a:rPr>
              <a:t>early warning of respiratory and cardiac admission spikes</a:t>
            </a:r>
            <a:endParaRPr sz="1200" b="0" i="0">
              <a:solidFill>
                <a:srgbClr val="222222"/>
              </a:solidFill>
            </a:endParaRPr>
          </a:p>
        </p:txBody>
      </p:sp>
      <p:sp>
        <p:nvSpPr>
          <p:cNvPr id="17" name="Rounded Rectangle 16"/>
          <p:cNvSpPr/>
          <p:nvPr/>
        </p:nvSpPr>
        <p:spPr>
          <a:xfrm>
            <a:off x="3429000" y="3657600"/>
            <a:ext cx="2560320" cy="1965960"/>
          </a:xfrm>
          <a:prstGeom prst="roundRect">
            <a:avLst>
              <a:gd name="adj" fmla="val 8000"/>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11880" y="3840480"/>
            <a:ext cx="384048" cy="384048"/>
          </a:xfrm>
          <a:prstGeom prst="ellipse">
            <a:avLst/>
          </a:prstGeom>
          <a:solidFill>
            <a:srgbClr val="D70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11880" y="3840480"/>
            <a:ext cx="384048" cy="384048"/>
          </a:xfrm>
          <a:prstGeom prst="rect">
            <a:avLst/>
          </a:prstGeom>
          <a:noFill/>
        </p:spPr>
        <p:txBody>
          <a:bodyPr wrap="square" lIns="45720" tIns="27432" rIns="45720" bIns="27432" anchor="ctr">
            <a:spAutoFit/>
          </a:bodyPr>
          <a:lstStyle/>
          <a:p>
            <a:pPr algn="ctr">
              <a:spcAft>
                <a:spcPts val="600"/>
              </a:spcAft>
            </a:pPr>
            <a:r>
              <a:rPr sz="1400" b="1" i="0">
                <a:solidFill>
                  <a:srgbClr val="FFFFFF"/>
                </a:solidFill>
              </a:rPr>
              <a:t>2</a:t>
            </a:r>
            <a:endParaRPr sz="1400" b="1" i="0">
              <a:solidFill>
                <a:srgbClr val="FFFFFF"/>
              </a:solidFill>
            </a:endParaRPr>
          </a:p>
        </p:txBody>
      </p:sp>
      <p:sp>
        <p:nvSpPr>
          <p:cNvPr id="20" name="TextBox 19"/>
          <p:cNvSpPr txBox="1"/>
          <p:nvPr/>
        </p:nvSpPr>
        <p:spPr>
          <a:xfrm>
            <a:off x="4114800" y="3840480"/>
            <a:ext cx="1828800" cy="411480"/>
          </a:xfrm>
          <a:prstGeom prst="rect">
            <a:avLst/>
          </a:prstGeom>
          <a:noFill/>
        </p:spPr>
        <p:txBody>
          <a:bodyPr wrap="square" lIns="45720" tIns="27432" rIns="45720" bIns="27432" anchor="ctr">
            <a:spAutoFit/>
          </a:bodyPr>
          <a:lstStyle/>
          <a:p>
            <a:pPr algn="l">
              <a:spcAft>
                <a:spcPts val="600"/>
              </a:spcAft>
            </a:pPr>
            <a:r>
              <a:rPr sz="1400" b="1" i="0">
                <a:solidFill>
                  <a:srgbClr val="0B3D91"/>
                </a:solidFill>
              </a:rPr>
              <a:t>NEMA</a:t>
            </a:r>
            <a:endParaRPr sz="1400" b="1" i="0">
              <a:solidFill>
                <a:srgbClr val="0B3D91"/>
              </a:solidFill>
            </a:endParaRPr>
          </a:p>
        </p:txBody>
      </p:sp>
      <p:sp>
        <p:nvSpPr>
          <p:cNvPr id="21" name="TextBox 20"/>
          <p:cNvSpPr txBox="1"/>
          <p:nvPr/>
        </p:nvSpPr>
        <p:spPr>
          <a:xfrm>
            <a:off x="3611880" y="4389120"/>
            <a:ext cx="2240280" cy="1188720"/>
          </a:xfrm>
          <a:prstGeom prst="rect">
            <a:avLst/>
          </a:prstGeom>
          <a:noFill/>
        </p:spPr>
        <p:txBody>
          <a:bodyPr wrap="square" lIns="45720" tIns="27432" rIns="45720" bIns="27432" anchor="t">
            <a:spAutoFit/>
          </a:bodyPr>
          <a:lstStyle/>
          <a:p>
            <a:pPr algn="l">
              <a:spcAft>
                <a:spcPts val="600"/>
              </a:spcAft>
            </a:pPr>
            <a:r>
              <a:rPr sz="1200" b="0" i="0">
                <a:solidFill>
                  <a:srgbClr val="222222"/>
                </a:solidFill>
              </a:rPr>
              <a:t>enforcement of air-quality standards and monitor siting</a:t>
            </a:r>
            <a:endParaRPr sz="1200" b="0" i="0">
              <a:solidFill>
                <a:srgbClr val="222222"/>
              </a:solidFill>
            </a:endParaRPr>
          </a:p>
        </p:txBody>
      </p:sp>
      <p:sp>
        <p:nvSpPr>
          <p:cNvPr id="22" name="Rounded Rectangle 21"/>
          <p:cNvSpPr/>
          <p:nvPr/>
        </p:nvSpPr>
        <p:spPr>
          <a:xfrm>
            <a:off x="6172200" y="3657600"/>
            <a:ext cx="2560320" cy="1965960"/>
          </a:xfrm>
          <a:prstGeom prst="roundRect">
            <a:avLst>
              <a:gd name="adj" fmla="val 8000"/>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55080" y="3840480"/>
            <a:ext cx="384048" cy="384048"/>
          </a:xfrm>
          <a:prstGeom prst="ellipse">
            <a:avLst/>
          </a:prstGeom>
          <a:solidFill>
            <a:srgbClr val="FFD9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3840480"/>
            <a:ext cx="384048" cy="384048"/>
          </a:xfrm>
          <a:prstGeom prst="rect">
            <a:avLst/>
          </a:prstGeom>
          <a:noFill/>
        </p:spPr>
        <p:txBody>
          <a:bodyPr wrap="square" lIns="45720" tIns="27432" rIns="45720" bIns="27432" anchor="ctr">
            <a:spAutoFit/>
          </a:bodyPr>
          <a:lstStyle/>
          <a:p>
            <a:pPr algn="ctr">
              <a:spcAft>
                <a:spcPts val="600"/>
              </a:spcAft>
            </a:pPr>
            <a:r>
              <a:rPr sz="1400" b="1" i="0">
                <a:solidFill>
                  <a:srgbClr val="222222"/>
                </a:solidFill>
              </a:rPr>
              <a:t>3</a:t>
            </a:r>
            <a:endParaRPr sz="1400" b="1" i="0">
              <a:solidFill>
                <a:srgbClr val="222222"/>
              </a:solidFill>
            </a:endParaRPr>
          </a:p>
        </p:txBody>
      </p:sp>
      <p:sp>
        <p:nvSpPr>
          <p:cNvPr id="25" name="TextBox 24"/>
          <p:cNvSpPr txBox="1"/>
          <p:nvPr/>
        </p:nvSpPr>
        <p:spPr>
          <a:xfrm>
            <a:off x="6858000" y="3840480"/>
            <a:ext cx="1828800" cy="411480"/>
          </a:xfrm>
          <a:prstGeom prst="rect">
            <a:avLst/>
          </a:prstGeom>
          <a:noFill/>
        </p:spPr>
        <p:txBody>
          <a:bodyPr wrap="square" lIns="45720" tIns="27432" rIns="45720" bIns="27432" anchor="ctr">
            <a:spAutoFit/>
          </a:bodyPr>
          <a:lstStyle/>
          <a:p>
            <a:pPr algn="l">
              <a:spcAft>
                <a:spcPts val="600"/>
              </a:spcAft>
            </a:pPr>
            <a:r>
              <a:rPr sz="1400" b="1" i="0">
                <a:solidFill>
                  <a:srgbClr val="0B3D91"/>
                </a:solidFill>
              </a:rPr>
              <a:t>Ministry of Energy</a:t>
            </a:r>
            <a:endParaRPr sz="1400" b="1" i="0">
              <a:solidFill>
                <a:srgbClr val="0B3D91"/>
              </a:solidFill>
            </a:endParaRPr>
          </a:p>
        </p:txBody>
      </p:sp>
      <p:sp>
        <p:nvSpPr>
          <p:cNvPr id="26" name="TextBox 25"/>
          <p:cNvSpPr txBox="1"/>
          <p:nvPr/>
        </p:nvSpPr>
        <p:spPr>
          <a:xfrm>
            <a:off x="6355080" y="4389120"/>
            <a:ext cx="2240280" cy="1188720"/>
          </a:xfrm>
          <a:prstGeom prst="rect">
            <a:avLst/>
          </a:prstGeom>
          <a:noFill/>
        </p:spPr>
        <p:txBody>
          <a:bodyPr wrap="square" lIns="45720" tIns="27432" rIns="45720" bIns="27432" anchor="t">
            <a:spAutoFit/>
          </a:bodyPr>
          <a:lstStyle/>
          <a:p>
            <a:pPr algn="l">
              <a:spcAft>
                <a:spcPts val="600"/>
              </a:spcAft>
            </a:pPr>
            <a:r>
              <a:rPr sz="1200" b="0" i="0">
                <a:solidFill>
                  <a:srgbClr val="222222"/>
                </a:solidFill>
              </a:rPr>
              <a:t>target clean-cooking programmes where biomass smoke is worst</a:t>
            </a:r>
            <a:endParaRPr sz="1200" b="0" i="0">
              <a:solidFill>
                <a:srgbClr val="222222"/>
              </a:solidFill>
            </a:endParaRPr>
          </a:p>
        </p:txBody>
      </p:sp>
      <p:sp>
        <p:nvSpPr>
          <p:cNvPr id="27" name="Rounded Rectangle 26"/>
          <p:cNvSpPr/>
          <p:nvPr/>
        </p:nvSpPr>
        <p:spPr>
          <a:xfrm>
            <a:off x="8915400" y="3657600"/>
            <a:ext cx="2560320" cy="1965960"/>
          </a:xfrm>
          <a:prstGeom prst="roundRect">
            <a:avLst>
              <a:gd name="adj" fmla="val 8000"/>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098280" y="3840480"/>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98280" y="3840480"/>
            <a:ext cx="384048" cy="384048"/>
          </a:xfrm>
          <a:prstGeom prst="rect">
            <a:avLst/>
          </a:prstGeom>
          <a:noFill/>
        </p:spPr>
        <p:txBody>
          <a:bodyPr wrap="square" lIns="45720" tIns="27432" rIns="45720" bIns="27432" anchor="ctr">
            <a:spAutoFit/>
          </a:bodyPr>
          <a:lstStyle/>
          <a:p>
            <a:pPr algn="ctr">
              <a:spcAft>
                <a:spcPts val="600"/>
              </a:spcAft>
            </a:pPr>
            <a:r>
              <a:rPr sz="1400" b="1" i="0">
                <a:solidFill>
                  <a:srgbClr val="FFFFFF"/>
                </a:solidFill>
              </a:rPr>
              <a:t>4</a:t>
            </a:r>
            <a:endParaRPr sz="1400" b="1" i="0">
              <a:solidFill>
                <a:srgbClr val="FFFFFF"/>
              </a:solidFill>
            </a:endParaRPr>
          </a:p>
        </p:txBody>
      </p:sp>
      <p:sp>
        <p:nvSpPr>
          <p:cNvPr id="30" name="TextBox 29"/>
          <p:cNvSpPr txBox="1"/>
          <p:nvPr/>
        </p:nvSpPr>
        <p:spPr>
          <a:xfrm>
            <a:off x="9601200" y="3840480"/>
            <a:ext cx="1828800" cy="411480"/>
          </a:xfrm>
          <a:prstGeom prst="rect">
            <a:avLst/>
          </a:prstGeom>
          <a:noFill/>
        </p:spPr>
        <p:txBody>
          <a:bodyPr wrap="square" lIns="45720" tIns="27432" rIns="45720" bIns="27432" anchor="ctr">
            <a:spAutoFit/>
          </a:bodyPr>
          <a:lstStyle/>
          <a:p>
            <a:pPr algn="l">
              <a:spcAft>
                <a:spcPts val="600"/>
              </a:spcAft>
            </a:pPr>
            <a:r>
              <a:rPr sz="1400" b="1" i="0">
                <a:solidFill>
                  <a:srgbClr val="0B3D91"/>
                </a:solidFill>
              </a:rPr>
              <a:t>Works &amp; Transport</a:t>
            </a:r>
            <a:endParaRPr sz="1400" b="1" i="0">
              <a:solidFill>
                <a:srgbClr val="0B3D91"/>
              </a:solidFill>
            </a:endParaRPr>
          </a:p>
        </p:txBody>
      </p:sp>
      <p:sp>
        <p:nvSpPr>
          <p:cNvPr id="31" name="TextBox 30"/>
          <p:cNvSpPr txBox="1"/>
          <p:nvPr/>
        </p:nvSpPr>
        <p:spPr>
          <a:xfrm>
            <a:off x="9098280" y="4389120"/>
            <a:ext cx="2240280" cy="1188720"/>
          </a:xfrm>
          <a:prstGeom prst="rect">
            <a:avLst/>
          </a:prstGeom>
          <a:noFill/>
        </p:spPr>
        <p:txBody>
          <a:bodyPr wrap="square" lIns="45720" tIns="27432" rIns="45720" bIns="27432" anchor="t">
            <a:spAutoFit/>
          </a:bodyPr>
          <a:lstStyle/>
          <a:p>
            <a:pPr algn="l">
              <a:spcAft>
                <a:spcPts val="600"/>
              </a:spcAft>
            </a:pPr>
            <a:r>
              <a:rPr sz="1200" b="0" i="0">
                <a:solidFill>
                  <a:srgbClr val="222222"/>
                </a:solidFill>
              </a:rPr>
              <a:t>traffic management and fleet-age regulation at peak hours</a:t>
            </a:r>
            <a:endParaRPr sz="1200" b="0" i="0">
              <a:solidFill>
                <a:srgbClr val="22222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5800" y="685800"/>
            <a:ext cx="9052560" cy="777240"/>
          </a:xfrm>
        </p:spPr>
        <p:txBody>
          <a:bodyPr anchor="ctr"/>
          <a:lstStyle/>
          <a:p>
            <a:r>
              <a:rPr sz="3000"/>
              <a:t>Methodology: one pipeline, CSV </a:t>
            </a:r>
            <a:endParaRPr sz="3000"/>
          </a:p>
        </p:txBody>
      </p:sp>
      <p:sp>
        <p:nvSpPr>
          <p:cNvPr id="3" name="Rounded Rectangle 2"/>
          <p:cNvSpPr/>
          <p:nvPr/>
        </p:nvSpPr>
        <p:spPr>
          <a:xfrm>
            <a:off x="685800" y="2011680"/>
            <a:ext cx="2377440" cy="146304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2960" y="2148840"/>
            <a:ext cx="411480" cy="411480"/>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48840"/>
            <a:ext cx="411480" cy="411480"/>
          </a:xfrm>
          <a:prstGeom prst="rect">
            <a:avLst/>
          </a:prstGeom>
          <a:noFill/>
        </p:spPr>
        <p:txBody>
          <a:bodyPr wrap="square" lIns="45720" tIns="27432" rIns="45720" bIns="27432" anchor="ctr">
            <a:spAutoFit/>
          </a:bodyPr>
          <a:lstStyle/>
          <a:p>
            <a:pPr algn="ctr">
              <a:spcAft>
                <a:spcPts val="600"/>
              </a:spcAft>
            </a:pPr>
            <a:r>
              <a:rPr sz="1400" b="1" i="0">
                <a:solidFill>
                  <a:srgbClr val="FFFFFF"/>
                </a:solidFill>
              </a:rPr>
              <a:t>1</a:t>
            </a:r>
            <a:endParaRPr sz="1400" b="1" i="0">
              <a:solidFill>
                <a:srgbClr val="FFFFFF"/>
              </a:solidFill>
            </a:endParaRPr>
          </a:p>
        </p:txBody>
      </p:sp>
      <p:sp>
        <p:nvSpPr>
          <p:cNvPr id="6" name="TextBox 5"/>
          <p:cNvSpPr txBox="1"/>
          <p:nvPr/>
        </p:nvSpPr>
        <p:spPr>
          <a:xfrm>
            <a:off x="1325880" y="2148840"/>
            <a:ext cx="1691640" cy="411480"/>
          </a:xfrm>
          <a:prstGeom prst="rect">
            <a:avLst/>
          </a:prstGeom>
          <a:noFill/>
        </p:spPr>
        <p:txBody>
          <a:bodyPr wrap="square" lIns="45720" tIns="27432" rIns="45720" bIns="27432" anchor="ctr">
            <a:spAutoFit/>
          </a:bodyPr>
          <a:lstStyle/>
          <a:p>
            <a:pPr algn="l">
              <a:spcAft>
                <a:spcPts val="600"/>
              </a:spcAft>
            </a:pPr>
            <a:r>
              <a:rPr sz="1500" b="1" i="0">
                <a:solidFill>
                  <a:srgbClr val="0B3D91"/>
                </a:solidFill>
              </a:rPr>
              <a:t>Load &amp; audit</a:t>
            </a:r>
            <a:endParaRPr sz="1500" b="1" i="0">
              <a:solidFill>
                <a:srgbClr val="0B3D91"/>
              </a:solidFill>
            </a:endParaRPr>
          </a:p>
        </p:txBody>
      </p:sp>
      <p:sp>
        <p:nvSpPr>
          <p:cNvPr id="7" name="TextBox 6"/>
          <p:cNvSpPr txBox="1"/>
          <p:nvPr/>
        </p:nvSpPr>
        <p:spPr>
          <a:xfrm>
            <a:off x="822960" y="2670048"/>
            <a:ext cx="2148840" cy="777240"/>
          </a:xfrm>
          <a:prstGeom prst="rect">
            <a:avLst/>
          </a:prstGeom>
          <a:noFill/>
        </p:spPr>
        <p:txBody>
          <a:bodyPr wrap="square" lIns="45720" tIns="27432" rIns="45720" bIns="27432" anchor="t">
            <a:spAutoFit/>
          </a:bodyPr>
          <a:lstStyle/>
          <a:p>
            <a:pPr algn="l">
              <a:spcAft>
                <a:spcPts val="600"/>
              </a:spcAft>
            </a:pPr>
            <a:r>
              <a:rPr sz="1200" b="0" i="0">
                <a:solidFill>
                  <a:srgbClr val="222222"/>
                </a:solidFill>
              </a:rPr>
              <a:t>14,600 rows, zeros → null</a:t>
            </a:r>
            <a:endParaRPr sz="1200" b="0" i="0">
              <a:solidFill>
                <a:srgbClr val="222222"/>
              </a:solidFill>
            </a:endParaRPr>
          </a:p>
        </p:txBody>
      </p:sp>
      <p:sp>
        <p:nvSpPr>
          <p:cNvPr id="8" name="Rounded Rectangle 7"/>
          <p:cNvSpPr/>
          <p:nvPr/>
        </p:nvSpPr>
        <p:spPr>
          <a:xfrm>
            <a:off x="3474720" y="2011680"/>
            <a:ext cx="2377440" cy="146304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611879" y="2148840"/>
            <a:ext cx="411480" cy="411480"/>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79" y="2148840"/>
            <a:ext cx="411480" cy="411480"/>
          </a:xfrm>
          <a:prstGeom prst="rect">
            <a:avLst/>
          </a:prstGeom>
          <a:noFill/>
        </p:spPr>
        <p:txBody>
          <a:bodyPr wrap="square" lIns="45720" tIns="27432" rIns="45720" bIns="27432" anchor="ctr">
            <a:spAutoFit/>
          </a:bodyPr>
          <a:lstStyle/>
          <a:p>
            <a:pPr algn="ctr">
              <a:spcAft>
                <a:spcPts val="600"/>
              </a:spcAft>
            </a:pPr>
            <a:r>
              <a:rPr sz="1400" b="1" i="0">
                <a:solidFill>
                  <a:srgbClr val="FFFFFF"/>
                </a:solidFill>
              </a:rPr>
              <a:t>2</a:t>
            </a:r>
            <a:endParaRPr sz="1400" b="1" i="0">
              <a:solidFill>
                <a:srgbClr val="FFFFFF"/>
              </a:solidFill>
            </a:endParaRPr>
          </a:p>
        </p:txBody>
      </p:sp>
      <p:sp>
        <p:nvSpPr>
          <p:cNvPr id="11" name="TextBox 10"/>
          <p:cNvSpPr txBox="1"/>
          <p:nvPr/>
        </p:nvSpPr>
        <p:spPr>
          <a:xfrm>
            <a:off x="4114800" y="2148840"/>
            <a:ext cx="1691640" cy="411480"/>
          </a:xfrm>
          <a:prstGeom prst="rect">
            <a:avLst/>
          </a:prstGeom>
          <a:noFill/>
        </p:spPr>
        <p:txBody>
          <a:bodyPr wrap="square" lIns="45720" tIns="27432" rIns="45720" bIns="27432" anchor="ctr">
            <a:spAutoFit/>
          </a:bodyPr>
          <a:lstStyle/>
          <a:p>
            <a:pPr algn="l">
              <a:spcAft>
                <a:spcPts val="600"/>
              </a:spcAft>
            </a:pPr>
            <a:r>
              <a:rPr sz="1500" b="1" i="0">
                <a:solidFill>
                  <a:srgbClr val="0B3D91"/>
                </a:solidFill>
              </a:rPr>
              <a:t>Clean</a:t>
            </a:r>
            <a:endParaRPr sz="1500" b="1" i="0">
              <a:solidFill>
                <a:srgbClr val="0B3D91"/>
              </a:solidFill>
            </a:endParaRPr>
          </a:p>
        </p:txBody>
      </p:sp>
      <p:sp>
        <p:nvSpPr>
          <p:cNvPr id="12" name="TextBox 11"/>
          <p:cNvSpPr txBox="1"/>
          <p:nvPr/>
        </p:nvSpPr>
        <p:spPr>
          <a:xfrm>
            <a:off x="3611879" y="2670048"/>
            <a:ext cx="2148840" cy="777240"/>
          </a:xfrm>
          <a:prstGeom prst="rect">
            <a:avLst/>
          </a:prstGeom>
          <a:noFill/>
        </p:spPr>
        <p:txBody>
          <a:bodyPr wrap="square" lIns="45720" tIns="27432" rIns="45720" bIns="27432" anchor="t">
            <a:spAutoFit/>
          </a:bodyPr>
          <a:lstStyle/>
          <a:p>
            <a:pPr algn="l">
              <a:spcAft>
                <a:spcPts val="600"/>
              </a:spcAft>
            </a:pPr>
            <a:r>
              <a:rPr sz="1200" b="0" i="0">
                <a:solidFill>
                  <a:srgbClr val="222222"/>
                </a:solidFill>
              </a:rPr>
              <a:t>coords, ranges, outlier flags, types</a:t>
            </a:r>
            <a:endParaRPr sz="1200" b="0" i="0">
              <a:solidFill>
                <a:srgbClr val="222222"/>
              </a:solidFill>
            </a:endParaRPr>
          </a:p>
        </p:txBody>
      </p:sp>
      <p:sp>
        <p:nvSpPr>
          <p:cNvPr id="13" name="Rounded Rectangle 12"/>
          <p:cNvSpPr/>
          <p:nvPr/>
        </p:nvSpPr>
        <p:spPr>
          <a:xfrm>
            <a:off x="6263640" y="2011680"/>
            <a:ext cx="2377440" cy="146304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0" y="2148840"/>
            <a:ext cx="411480" cy="411480"/>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148840"/>
            <a:ext cx="411480" cy="411480"/>
          </a:xfrm>
          <a:prstGeom prst="rect">
            <a:avLst/>
          </a:prstGeom>
          <a:noFill/>
        </p:spPr>
        <p:txBody>
          <a:bodyPr wrap="square" lIns="45720" tIns="27432" rIns="45720" bIns="27432" anchor="ctr">
            <a:spAutoFit/>
          </a:bodyPr>
          <a:lstStyle/>
          <a:p>
            <a:pPr algn="ctr">
              <a:spcAft>
                <a:spcPts val="600"/>
              </a:spcAft>
            </a:pPr>
            <a:r>
              <a:rPr sz="1400" b="1" i="0">
                <a:solidFill>
                  <a:srgbClr val="FFFFFF"/>
                </a:solidFill>
              </a:rPr>
              <a:t>3</a:t>
            </a:r>
            <a:endParaRPr sz="1400" b="1" i="0">
              <a:solidFill>
                <a:srgbClr val="FFFFFF"/>
              </a:solidFill>
            </a:endParaRPr>
          </a:p>
        </p:txBody>
      </p:sp>
      <p:sp>
        <p:nvSpPr>
          <p:cNvPr id="16" name="TextBox 15"/>
          <p:cNvSpPr txBox="1"/>
          <p:nvPr/>
        </p:nvSpPr>
        <p:spPr>
          <a:xfrm>
            <a:off x="6903720" y="2148840"/>
            <a:ext cx="1691640" cy="411480"/>
          </a:xfrm>
          <a:prstGeom prst="rect">
            <a:avLst/>
          </a:prstGeom>
          <a:noFill/>
        </p:spPr>
        <p:txBody>
          <a:bodyPr wrap="square" lIns="45720" tIns="27432" rIns="45720" bIns="27432" anchor="ctr">
            <a:spAutoFit/>
          </a:bodyPr>
          <a:lstStyle/>
          <a:p>
            <a:pPr algn="l">
              <a:spcAft>
                <a:spcPts val="600"/>
              </a:spcAft>
            </a:pPr>
            <a:r>
              <a:rPr sz="1500" b="1" i="0">
                <a:solidFill>
                  <a:srgbClr val="0B3D91"/>
                </a:solidFill>
              </a:rPr>
              <a:t>Hourly resample</a:t>
            </a:r>
            <a:endParaRPr sz="1500" b="1" i="0">
              <a:solidFill>
                <a:srgbClr val="0B3D91"/>
              </a:solidFill>
            </a:endParaRPr>
          </a:p>
        </p:txBody>
      </p:sp>
      <p:sp>
        <p:nvSpPr>
          <p:cNvPr id="17" name="TextBox 16"/>
          <p:cNvSpPr txBox="1"/>
          <p:nvPr/>
        </p:nvSpPr>
        <p:spPr>
          <a:xfrm>
            <a:off x="6400800" y="2670048"/>
            <a:ext cx="2148840" cy="777240"/>
          </a:xfrm>
          <a:prstGeom prst="rect">
            <a:avLst/>
          </a:prstGeom>
          <a:noFill/>
        </p:spPr>
        <p:txBody>
          <a:bodyPr wrap="square" lIns="45720" tIns="27432" rIns="45720" bIns="27432" anchor="t">
            <a:spAutoFit/>
          </a:bodyPr>
          <a:lstStyle/>
          <a:p>
            <a:pPr algn="l">
              <a:spcAft>
                <a:spcPts val="600"/>
              </a:spcAft>
            </a:pPr>
            <a:r>
              <a:rPr sz="1200" b="0" i="0">
                <a:solidFill>
                  <a:srgbClr val="222222"/>
                </a:solidFill>
              </a:rPr>
              <a:t>Jan–Jul grid, offline = NaN, ≤3 h interp.</a:t>
            </a:r>
            <a:endParaRPr sz="1200" b="0" i="0">
              <a:solidFill>
                <a:srgbClr val="222222"/>
              </a:solidFill>
            </a:endParaRPr>
          </a:p>
        </p:txBody>
      </p:sp>
      <p:sp>
        <p:nvSpPr>
          <p:cNvPr id="18" name="Rounded Rectangle 17"/>
          <p:cNvSpPr/>
          <p:nvPr/>
        </p:nvSpPr>
        <p:spPr>
          <a:xfrm>
            <a:off x="9052559" y="2011680"/>
            <a:ext cx="2377440" cy="146304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89719" y="2148840"/>
            <a:ext cx="411480" cy="411480"/>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9719" y="2148840"/>
            <a:ext cx="411480" cy="411480"/>
          </a:xfrm>
          <a:prstGeom prst="rect">
            <a:avLst/>
          </a:prstGeom>
          <a:noFill/>
        </p:spPr>
        <p:txBody>
          <a:bodyPr wrap="square" lIns="45720" tIns="27432" rIns="45720" bIns="27432" anchor="ctr">
            <a:spAutoFit/>
          </a:bodyPr>
          <a:lstStyle/>
          <a:p>
            <a:pPr algn="ctr">
              <a:spcAft>
                <a:spcPts val="600"/>
              </a:spcAft>
            </a:pPr>
            <a:r>
              <a:rPr sz="1400" b="1" i="0">
                <a:solidFill>
                  <a:srgbClr val="FFFFFF"/>
                </a:solidFill>
              </a:rPr>
              <a:t>4</a:t>
            </a:r>
            <a:endParaRPr sz="1400" b="1" i="0">
              <a:solidFill>
                <a:srgbClr val="FFFFFF"/>
              </a:solidFill>
            </a:endParaRPr>
          </a:p>
        </p:txBody>
      </p:sp>
      <p:sp>
        <p:nvSpPr>
          <p:cNvPr id="21" name="TextBox 20"/>
          <p:cNvSpPr txBox="1"/>
          <p:nvPr/>
        </p:nvSpPr>
        <p:spPr>
          <a:xfrm>
            <a:off x="9692639" y="2148840"/>
            <a:ext cx="1691640" cy="411480"/>
          </a:xfrm>
          <a:prstGeom prst="rect">
            <a:avLst/>
          </a:prstGeom>
          <a:noFill/>
        </p:spPr>
        <p:txBody>
          <a:bodyPr wrap="square" lIns="45720" tIns="27432" rIns="45720" bIns="27432" anchor="ctr">
            <a:spAutoFit/>
          </a:bodyPr>
          <a:lstStyle/>
          <a:p>
            <a:pPr algn="l">
              <a:spcAft>
                <a:spcPts val="600"/>
              </a:spcAft>
            </a:pPr>
            <a:r>
              <a:rPr sz="1500" b="1" i="0">
                <a:solidFill>
                  <a:srgbClr val="0B3D91"/>
                </a:solidFill>
              </a:rPr>
              <a:t>EDA</a:t>
            </a:r>
            <a:endParaRPr sz="1500" b="1" i="0">
              <a:solidFill>
                <a:srgbClr val="0B3D91"/>
              </a:solidFill>
            </a:endParaRPr>
          </a:p>
        </p:txBody>
      </p:sp>
      <p:sp>
        <p:nvSpPr>
          <p:cNvPr id="22" name="TextBox 21"/>
          <p:cNvSpPr txBox="1"/>
          <p:nvPr/>
        </p:nvSpPr>
        <p:spPr>
          <a:xfrm>
            <a:off x="9189719" y="2670048"/>
            <a:ext cx="2148840" cy="777240"/>
          </a:xfrm>
          <a:prstGeom prst="rect">
            <a:avLst/>
          </a:prstGeom>
          <a:noFill/>
        </p:spPr>
        <p:txBody>
          <a:bodyPr wrap="square" lIns="45720" tIns="27432" rIns="45720" bIns="27432" anchor="t">
            <a:spAutoFit/>
          </a:bodyPr>
          <a:lstStyle/>
          <a:p>
            <a:pPr algn="l">
              <a:spcAft>
                <a:spcPts val="600"/>
              </a:spcAft>
            </a:pPr>
            <a:r>
              <a:rPr sz="1200" b="0" i="0">
                <a:solidFill>
                  <a:srgbClr val="222222"/>
                </a:solidFill>
              </a:rPr>
              <a:t>5 Kampala sensors, AQI plots, Z-score</a:t>
            </a:r>
            <a:endParaRPr sz="1200" b="0" i="0">
              <a:solidFill>
                <a:srgbClr val="222222"/>
              </a:solidFill>
            </a:endParaRPr>
          </a:p>
        </p:txBody>
      </p:sp>
      <p:sp>
        <p:nvSpPr>
          <p:cNvPr id="23" name="Rounded Rectangle 22"/>
          <p:cNvSpPr/>
          <p:nvPr/>
        </p:nvSpPr>
        <p:spPr>
          <a:xfrm>
            <a:off x="9052559" y="4069080"/>
            <a:ext cx="2377440" cy="146304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89719" y="4206240"/>
            <a:ext cx="411480" cy="411480"/>
          </a:xfrm>
          <a:prstGeom prst="ellipse">
            <a:avLst/>
          </a:prstGeom>
          <a:solidFill>
            <a:srgbClr val="D70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89719" y="4206240"/>
            <a:ext cx="411480" cy="411480"/>
          </a:xfrm>
          <a:prstGeom prst="rect">
            <a:avLst/>
          </a:prstGeom>
          <a:noFill/>
        </p:spPr>
        <p:txBody>
          <a:bodyPr wrap="square" lIns="45720" tIns="27432" rIns="45720" bIns="27432" anchor="ctr">
            <a:spAutoFit/>
          </a:bodyPr>
          <a:lstStyle/>
          <a:p>
            <a:pPr algn="ctr">
              <a:spcAft>
                <a:spcPts val="600"/>
              </a:spcAft>
            </a:pPr>
            <a:r>
              <a:rPr sz="1400" b="1" i="0">
                <a:solidFill>
                  <a:srgbClr val="FFFFFF"/>
                </a:solidFill>
              </a:rPr>
              <a:t>5</a:t>
            </a:r>
            <a:endParaRPr sz="1400" b="1" i="0">
              <a:solidFill>
                <a:srgbClr val="FFFFFF"/>
              </a:solidFill>
            </a:endParaRPr>
          </a:p>
        </p:txBody>
      </p:sp>
      <p:sp>
        <p:nvSpPr>
          <p:cNvPr id="26" name="TextBox 25"/>
          <p:cNvSpPr txBox="1"/>
          <p:nvPr/>
        </p:nvSpPr>
        <p:spPr>
          <a:xfrm>
            <a:off x="9692639" y="4206240"/>
            <a:ext cx="1691640" cy="411480"/>
          </a:xfrm>
          <a:prstGeom prst="rect">
            <a:avLst/>
          </a:prstGeom>
          <a:noFill/>
        </p:spPr>
        <p:txBody>
          <a:bodyPr wrap="square" lIns="45720" tIns="27432" rIns="45720" bIns="27432" anchor="ctr">
            <a:spAutoFit/>
          </a:bodyPr>
          <a:lstStyle/>
          <a:p>
            <a:pPr algn="l">
              <a:spcAft>
                <a:spcPts val="600"/>
              </a:spcAft>
            </a:pPr>
            <a:r>
              <a:rPr sz="1500" b="1" i="0">
                <a:solidFill>
                  <a:srgbClr val="0B3D91"/>
                </a:solidFill>
              </a:rPr>
              <a:t>Model</a:t>
            </a:r>
            <a:endParaRPr sz="1500" b="1" i="0">
              <a:solidFill>
                <a:srgbClr val="0B3D91"/>
              </a:solidFill>
            </a:endParaRPr>
          </a:p>
        </p:txBody>
      </p:sp>
      <p:sp>
        <p:nvSpPr>
          <p:cNvPr id="27" name="TextBox 26"/>
          <p:cNvSpPr txBox="1"/>
          <p:nvPr/>
        </p:nvSpPr>
        <p:spPr>
          <a:xfrm>
            <a:off x="9189719" y="4727448"/>
            <a:ext cx="2148840" cy="777240"/>
          </a:xfrm>
          <a:prstGeom prst="rect">
            <a:avLst/>
          </a:prstGeom>
          <a:noFill/>
        </p:spPr>
        <p:txBody>
          <a:bodyPr wrap="square" lIns="45720" tIns="27432" rIns="45720" bIns="27432" anchor="t">
            <a:spAutoFit/>
          </a:bodyPr>
          <a:lstStyle/>
          <a:p>
            <a:pPr algn="l">
              <a:spcAft>
                <a:spcPts val="600"/>
              </a:spcAft>
            </a:pPr>
            <a:r>
              <a:rPr sz="1200" b="0" i="0">
                <a:solidFill>
                  <a:srgbClr val="222222"/>
                </a:solidFill>
              </a:rPr>
              <a:t>5 models + 2 ensembles, tuned</a:t>
            </a:r>
            <a:endParaRPr sz="1200" b="0" i="0">
              <a:solidFill>
                <a:srgbClr val="222222"/>
              </a:solidFill>
            </a:endParaRPr>
          </a:p>
        </p:txBody>
      </p:sp>
      <p:sp>
        <p:nvSpPr>
          <p:cNvPr id="28" name="Rounded Rectangle 27"/>
          <p:cNvSpPr/>
          <p:nvPr/>
        </p:nvSpPr>
        <p:spPr>
          <a:xfrm>
            <a:off x="6263640" y="4069080"/>
            <a:ext cx="2377440" cy="146304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00800" y="4206240"/>
            <a:ext cx="411480" cy="411480"/>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4206240"/>
            <a:ext cx="411480" cy="411480"/>
          </a:xfrm>
          <a:prstGeom prst="rect">
            <a:avLst/>
          </a:prstGeom>
          <a:noFill/>
        </p:spPr>
        <p:txBody>
          <a:bodyPr wrap="square" lIns="45720" tIns="27432" rIns="45720" bIns="27432" anchor="ctr">
            <a:spAutoFit/>
          </a:bodyPr>
          <a:lstStyle/>
          <a:p>
            <a:pPr algn="ctr">
              <a:spcAft>
                <a:spcPts val="600"/>
              </a:spcAft>
            </a:pPr>
            <a:r>
              <a:rPr sz="1400" b="1" i="0">
                <a:solidFill>
                  <a:srgbClr val="FFFFFF"/>
                </a:solidFill>
              </a:rPr>
              <a:t>6</a:t>
            </a:r>
            <a:endParaRPr sz="1400" b="1" i="0">
              <a:solidFill>
                <a:srgbClr val="FFFFFF"/>
              </a:solidFill>
            </a:endParaRPr>
          </a:p>
        </p:txBody>
      </p:sp>
      <p:sp>
        <p:nvSpPr>
          <p:cNvPr id="31" name="TextBox 30"/>
          <p:cNvSpPr txBox="1"/>
          <p:nvPr/>
        </p:nvSpPr>
        <p:spPr>
          <a:xfrm>
            <a:off x="6903720" y="4206240"/>
            <a:ext cx="1691640" cy="411480"/>
          </a:xfrm>
          <a:prstGeom prst="rect">
            <a:avLst/>
          </a:prstGeom>
          <a:noFill/>
        </p:spPr>
        <p:txBody>
          <a:bodyPr wrap="square" lIns="45720" tIns="27432" rIns="45720" bIns="27432" anchor="ctr">
            <a:spAutoFit/>
          </a:bodyPr>
          <a:lstStyle/>
          <a:p>
            <a:pPr algn="l">
              <a:spcAft>
                <a:spcPts val="600"/>
              </a:spcAft>
            </a:pPr>
            <a:r>
              <a:rPr sz="1500" b="1" i="0">
                <a:solidFill>
                  <a:srgbClr val="0B3D91"/>
                </a:solidFill>
              </a:rPr>
              <a:t>Save best</a:t>
            </a:r>
            <a:endParaRPr sz="1500" b="1" i="0">
              <a:solidFill>
                <a:srgbClr val="0B3D91"/>
              </a:solidFill>
            </a:endParaRPr>
          </a:p>
        </p:txBody>
      </p:sp>
      <p:sp>
        <p:nvSpPr>
          <p:cNvPr id="32" name="TextBox 31"/>
          <p:cNvSpPr txBox="1"/>
          <p:nvPr/>
        </p:nvSpPr>
        <p:spPr>
          <a:xfrm>
            <a:off x="6400800" y="4727448"/>
            <a:ext cx="2148840" cy="777240"/>
          </a:xfrm>
          <a:prstGeom prst="rect">
            <a:avLst/>
          </a:prstGeom>
          <a:noFill/>
        </p:spPr>
        <p:txBody>
          <a:bodyPr wrap="square" lIns="45720" tIns="27432" rIns="45720" bIns="27432" anchor="t">
            <a:spAutoFit/>
          </a:bodyPr>
          <a:lstStyle/>
          <a:p>
            <a:pPr algn="l">
              <a:spcAft>
                <a:spcPts val="600"/>
              </a:spcAft>
            </a:pPr>
            <a:r>
              <a:rPr sz="1200" b="0" i="0">
                <a:solidFill>
                  <a:srgbClr val="222222"/>
                </a:solidFill>
              </a:rPr>
              <a:t>joblib bundle incl. μ, σ</a:t>
            </a:r>
            <a:endParaRPr sz="1200" b="0" i="0">
              <a:solidFill>
                <a:srgbClr val="222222"/>
              </a:solidFill>
            </a:endParaRPr>
          </a:p>
        </p:txBody>
      </p:sp>
      <p:sp>
        <p:nvSpPr>
          <p:cNvPr id="33" name="Rounded Rectangle 32"/>
          <p:cNvSpPr/>
          <p:nvPr/>
        </p:nvSpPr>
        <p:spPr>
          <a:xfrm>
            <a:off x="3474720" y="4069080"/>
            <a:ext cx="2377440" cy="146304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11879" y="4206240"/>
            <a:ext cx="411480" cy="411480"/>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11879" y="4206240"/>
            <a:ext cx="411480" cy="411480"/>
          </a:xfrm>
          <a:prstGeom prst="rect">
            <a:avLst/>
          </a:prstGeom>
          <a:noFill/>
        </p:spPr>
        <p:txBody>
          <a:bodyPr wrap="square" lIns="45720" tIns="27432" rIns="45720" bIns="27432" anchor="ctr">
            <a:spAutoFit/>
          </a:bodyPr>
          <a:lstStyle/>
          <a:p>
            <a:pPr algn="ctr">
              <a:spcAft>
                <a:spcPts val="600"/>
              </a:spcAft>
            </a:pPr>
            <a:r>
              <a:rPr sz="1400" b="1" i="0">
                <a:solidFill>
                  <a:srgbClr val="FFFFFF"/>
                </a:solidFill>
              </a:rPr>
              <a:t>7</a:t>
            </a:r>
            <a:endParaRPr sz="1400" b="1" i="0">
              <a:solidFill>
                <a:srgbClr val="FFFFFF"/>
              </a:solidFill>
            </a:endParaRPr>
          </a:p>
        </p:txBody>
      </p:sp>
      <p:sp>
        <p:nvSpPr>
          <p:cNvPr id="36" name="TextBox 35"/>
          <p:cNvSpPr txBox="1"/>
          <p:nvPr/>
        </p:nvSpPr>
        <p:spPr>
          <a:xfrm>
            <a:off x="4114800" y="4206240"/>
            <a:ext cx="1691640" cy="411480"/>
          </a:xfrm>
          <a:prstGeom prst="rect">
            <a:avLst/>
          </a:prstGeom>
          <a:noFill/>
        </p:spPr>
        <p:txBody>
          <a:bodyPr wrap="square" lIns="45720" tIns="27432" rIns="45720" bIns="27432" anchor="ctr">
            <a:spAutoFit/>
          </a:bodyPr>
          <a:lstStyle/>
          <a:p>
            <a:pPr algn="l">
              <a:spcAft>
                <a:spcPts val="600"/>
              </a:spcAft>
            </a:pPr>
            <a:r>
              <a:rPr sz="1500" b="1" i="0">
                <a:solidFill>
                  <a:srgbClr val="0B3D91"/>
                </a:solidFill>
              </a:rPr>
              <a:t>Forecast</a:t>
            </a:r>
            <a:endParaRPr sz="1500" b="1" i="0">
              <a:solidFill>
                <a:srgbClr val="0B3D91"/>
              </a:solidFill>
            </a:endParaRPr>
          </a:p>
        </p:txBody>
      </p:sp>
      <p:sp>
        <p:nvSpPr>
          <p:cNvPr id="37" name="TextBox 36"/>
          <p:cNvSpPr txBox="1"/>
          <p:nvPr/>
        </p:nvSpPr>
        <p:spPr>
          <a:xfrm>
            <a:off x="3611879" y="4727448"/>
            <a:ext cx="2148840" cy="777240"/>
          </a:xfrm>
          <a:prstGeom prst="rect">
            <a:avLst/>
          </a:prstGeom>
          <a:noFill/>
        </p:spPr>
        <p:txBody>
          <a:bodyPr wrap="square" lIns="45720" tIns="27432" rIns="45720" bIns="27432" anchor="t">
            <a:spAutoFit/>
          </a:bodyPr>
          <a:lstStyle/>
          <a:p>
            <a:pPr algn="l">
              <a:spcAft>
                <a:spcPts val="600"/>
              </a:spcAft>
            </a:pPr>
            <a:r>
              <a:rPr sz="1200" b="0" i="0">
                <a:solidFill>
                  <a:srgbClr val="222222"/>
                </a:solidFill>
              </a:rPr>
              <a:t>Aug daily &amp; hourly, inverse Z</a:t>
            </a:r>
            <a:endParaRPr sz="1200" b="0" i="0">
              <a:solidFill>
                <a:srgbClr val="222222"/>
              </a:solidFill>
            </a:endParaRPr>
          </a:p>
        </p:txBody>
      </p:sp>
      <p:sp>
        <p:nvSpPr>
          <p:cNvPr id="38" name="Rounded Rectangle 37"/>
          <p:cNvSpPr/>
          <p:nvPr/>
        </p:nvSpPr>
        <p:spPr>
          <a:xfrm>
            <a:off x="685800" y="4069080"/>
            <a:ext cx="2377440" cy="146304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22960" y="4206240"/>
            <a:ext cx="411480" cy="411480"/>
          </a:xfrm>
          <a:prstGeom prst="ellipse">
            <a:avLst/>
          </a:prstGeom>
          <a:solidFill>
            <a:srgbClr val="D70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4206240"/>
            <a:ext cx="411480" cy="411480"/>
          </a:xfrm>
          <a:prstGeom prst="rect">
            <a:avLst/>
          </a:prstGeom>
          <a:noFill/>
        </p:spPr>
        <p:txBody>
          <a:bodyPr wrap="square" lIns="45720" tIns="27432" rIns="45720" bIns="27432" anchor="ctr">
            <a:spAutoFit/>
          </a:bodyPr>
          <a:lstStyle/>
          <a:p>
            <a:pPr algn="ctr">
              <a:spcAft>
                <a:spcPts val="600"/>
              </a:spcAft>
            </a:pPr>
            <a:r>
              <a:rPr sz="1400" b="1" i="0">
                <a:solidFill>
                  <a:srgbClr val="FFFFFF"/>
                </a:solidFill>
              </a:rPr>
              <a:t>8</a:t>
            </a:r>
            <a:endParaRPr sz="1400" b="1" i="0">
              <a:solidFill>
                <a:srgbClr val="FFFFFF"/>
              </a:solidFill>
            </a:endParaRPr>
          </a:p>
        </p:txBody>
      </p:sp>
      <p:sp>
        <p:nvSpPr>
          <p:cNvPr id="41" name="TextBox 40"/>
          <p:cNvSpPr txBox="1"/>
          <p:nvPr/>
        </p:nvSpPr>
        <p:spPr>
          <a:xfrm>
            <a:off x="1325880" y="4206240"/>
            <a:ext cx="1691640" cy="411480"/>
          </a:xfrm>
          <a:prstGeom prst="rect">
            <a:avLst/>
          </a:prstGeom>
          <a:noFill/>
        </p:spPr>
        <p:txBody>
          <a:bodyPr wrap="square" lIns="45720" tIns="27432" rIns="45720" bIns="27432" anchor="ctr">
            <a:spAutoFit/>
          </a:bodyPr>
          <a:lstStyle/>
          <a:p>
            <a:pPr algn="l">
              <a:spcAft>
                <a:spcPts val="600"/>
              </a:spcAft>
            </a:pPr>
            <a:r>
              <a:rPr sz="1500" b="1" i="0">
                <a:solidFill>
                  <a:srgbClr val="0B3D91"/>
                </a:solidFill>
              </a:rPr>
              <a:t>Monitor &amp; deploy</a:t>
            </a:r>
            <a:endParaRPr sz="1500" b="1" i="0">
              <a:solidFill>
                <a:srgbClr val="0B3D91"/>
              </a:solidFill>
            </a:endParaRPr>
          </a:p>
        </p:txBody>
      </p:sp>
      <p:sp>
        <p:nvSpPr>
          <p:cNvPr id="42" name="TextBox 41"/>
          <p:cNvSpPr txBox="1"/>
          <p:nvPr/>
        </p:nvSpPr>
        <p:spPr>
          <a:xfrm>
            <a:off x="822960" y="4727448"/>
            <a:ext cx="2148840" cy="777240"/>
          </a:xfrm>
          <a:prstGeom prst="rect">
            <a:avLst/>
          </a:prstGeom>
          <a:noFill/>
        </p:spPr>
        <p:txBody>
          <a:bodyPr wrap="square" lIns="45720" tIns="27432" rIns="45720" bIns="27432" anchor="t">
            <a:spAutoFit/>
          </a:bodyPr>
          <a:lstStyle/>
          <a:p>
            <a:pPr algn="l">
              <a:spcAft>
                <a:spcPts val="600"/>
              </a:spcAft>
            </a:pPr>
            <a:r>
              <a:rPr sz="1200" b="0" i="0">
                <a:solidFill>
                  <a:srgbClr val="222222"/>
                </a:solidFill>
              </a:rPr>
              <a:t>Evidently drift, RunPod logs</a:t>
            </a:r>
            <a:endParaRPr sz="1200" b="0" i="0">
              <a:solidFill>
                <a:srgbClr val="222222"/>
              </a:solidFill>
            </a:endParaRPr>
          </a:p>
        </p:txBody>
      </p:sp>
      <p:cxnSp>
        <p:nvCxnSpPr>
          <p:cNvPr id="43" name="Connector 42"/>
          <p:cNvCxnSpPr/>
          <p:nvPr/>
        </p:nvCxnSpPr>
        <p:spPr>
          <a:xfrm>
            <a:off x="3081528" y="2743200"/>
            <a:ext cx="374904" cy="0"/>
          </a:xfrm>
          <a:prstGeom prst="line">
            <a:avLst/>
          </a:prstGeom>
          <a:ln w="25400">
            <a:solidFill>
              <a:srgbClr val="0B3D91"/>
            </a:solidFill>
            <a:tailEnd type="triangle"/>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870448" y="2743200"/>
            <a:ext cx="374904" cy="0"/>
          </a:xfrm>
          <a:prstGeom prst="line">
            <a:avLst/>
          </a:prstGeom>
          <a:ln w="25400">
            <a:solidFill>
              <a:srgbClr val="0B3D91"/>
            </a:solidFill>
            <a:tailEnd type="triangle"/>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659367" y="2743200"/>
            <a:ext cx="374905" cy="0"/>
          </a:xfrm>
          <a:prstGeom prst="line">
            <a:avLst/>
          </a:prstGeom>
          <a:ln w="25400">
            <a:solidFill>
              <a:srgbClr val="0B3D9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241280" y="3493008"/>
            <a:ext cx="0" cy="557783"/>
          </a:xfrm>
          <a:prstGeom prst="line">
            <a:avLst/>
          </a:prstGeom>
          <a:ln w="25400">
            <a:solidFill>
              <a:srgbClr val="0B3D91"/>
            </a:solidFill>
            <a:tailEnd type="triangle"/>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8659367" y="4800600"/>
            <a:ext cx="374905" cy="0"/>
          </a:xfrm>
          <a:prstGeom prst="line">
            <a:avLst/>
          </a:prstGeom>
          <a:ln w="25400">
            <a:solidFill>
              <a:srgbClr val="0B3D91"/>
            </a:solidFill>
            <a:tailEnd type="triangle"/>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5870448" y="4800600"/>
            <a:ext cx="374904" cy="0"/>
          </a:xfrm>
          <a:prstGeom prst="line">
            <a:avLst/>
          </a:prstGeom>
          <a:ln w="25400">
            <a:solidFill>
              <a:srgbClr val="0B3D91"/>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3081528" y="4800600"/>
            <a:ext cx="374904" cy="0"/>
          </a:xfrm>
          <a:prstGeom prst="line">
            <a:avLst/>
          </a:prstGeom>
          <a:ln w="25400">
            <a:solidFill>
              <a:srgbClr val="0B3D91"/>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5800" y="685800"/>
            <a:ext cx="9052560" cy="777240"/>
          </a:xfrm>
        </p:spPr>
        <p:txBody>
          <a:bodyPr anchor="ctr"/>
          <a:lstStyle/>
          <a:p>
            <a:r>
              <a:rPr sz="3000"/>
              <a:t>149 sensors, but only 8 days of readings</a:t>
            </a:r>
            <a:endParaRPr sz="3000"/>
          </a:p>
        </p:txBody>
      </p:sp>
      <p:sp>
        <p:nvSpPr>
          <p:cNvPr id="3" name="Rounded Rectangle 2"/>
          <p:cNvSpPr/>
          <p:nvPr/>
        </p:nvSpPr>
        <p:spPr>
          <a:xfrm>
            <a:off x="685800" y="1920240"/>
            <a:ext cx="2560320" cy="123444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93392"/>
            <a:ext cx="2377439" cy="731520"/>
          </a:xfrm>
          <a:prstGeom prst="rect">
            <a:avLst/>
          </a:prstGeom>
          <a:noFill/>
        </p:spPr>
        <p:txBody>
          <a:bodyPr wrap="square" lIns="45720" tIns="27432" rIns="45720" bIns="27432" anchor="t">
            <a:spAutoFit/>
          </a:bodyPr>
          <a:lstStyle/>
          <a:p>
            <a:pPr algn="ctr">
              <a:spcAft>
                <a:spcPts val="600"/>
              </a:spcAft>
            </a:pPr>
            <a:r>
              <a:rPr sz="3400" b="1" i="0">
                <a:solidFill>
                  <a:srgbClr val="0B3D91"/>
                </a:solidFill>
              </a:rPr>
              <a:t>14,600</a:t>
            </a:r>
            <a:endParaRPr sz="3400" b="1" i="0">
              <a:solidFill>
                <a:srgbClr val="0B3D91"/>
              </a:solidFill>
            </a:endParaRPr>
          </a:p>
        </p:txBody>
      </p:sp>
      <p:sp>
        <p:nvSpPr>
          <p:cNvPr id="5" name="TextBox 4"/>
          <p:cNvSpPr txBox="1"/>
          <p:nvPr/>
        </p:nvSpPr>
        <p:spPr>
          <a:xfrm>
            <a:off x="777240" y="2697480"/>
            <a:ext cx="2377439" cy="411480"/>
          </a:xfrm>
          <a:prstGeom prst="rect">
            <a:avLst/>
          </a:prstGeom>
          <a:noFill/>
        </p:spPr>
        <p:txBody>
          <a:bodyPr wrap="square" lIns="45720" tIns="27432" rIns="45720" bIns="27432" anchor="t">
            <a:spAutoFit/>
          </a:bodyPr>
          <a:lstStyle/>
          <a:p>
            <a:pPr algn="ctr">
              <a:spcAft>
                <a:spcPts val="600"/>
              </a:spcAft>
            </a:pPr>
            <a:r>
              <a:rPr sz="1200" b="0" i="0">
                <a:solidFill>
                  <a:srgbClr val="5A5A5A"/>
                </a:solidFill>
              </a:rPr>
              <a:t>hourly records</a:t>
            </a:r>
            <a:endParaRPr sz="1200" b="0" i="0">
              <a:solidFill>
                <a:srgbClr val="5A5A5A"/>
              </a:solidFill>
            </a:endParaRPr>
          </a:p>
        </p:txBody>
      </p:sp>
      <p:sp>
        <p:nvSpPr>
          <p:cNvPr id="6" name="Rounded Rectangle 5"/>
          <p:cNvSpPr/>
          <p:nvPr/>
        </p:nvSpPr>
        <p:spPr>
          <a:xfrm>
            <a:off x="3474720" y="1920240"/>
            <a:ext cx="2560320" cy="123444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993392"/>
            <a:ext cx="2377439" cy="731520"/>
          </a:xfrm>
          <a:prstGeom prst="rect">
            <a:avLst/>
          </a:prstGeom>
          <a:noFill/>
        </p:spPr>
        <p:txBody>
          <a:bodyPr wrap="square" lIns="45720" tIns="27432" rIns="45720" bIns="27432" anchor="t">
            <a:spAutoFit/>
          </a:bodyPr>
          <a:lstStyle/>
          <a:p>
            <a:pPr algn="ctr">
              <a:spcAft>
                <a:spcPts val="600"/>
              </a:spcAft>
            </a:pPr>
            <a:r>
              <a:rPr sz="3400" b="1" i="0">
                <a:solidFill>
                  <a:srgbClr val="0B3D91"/>
                </a:solidFill>
              </a:rPr>
              <a:t>149</a:t>
            </a:r>
            <a:endParaRPr sz="3400" b="1" i="0">
              <a:solidFill>
                <a:srgbClr val="0B3D91"/>
              </a:solidFill>
            </a:endParaRPr>
          </a:p>
        </p:txBody>
      </p:sp>
      <p:sp>
        <p:nvSpPr>
          <p:cNvPr id="8" name="TextBox 7"/>
          <p:cNvSpPr txBox="1"/>
          <p:nvPr/>
        </p:nvSpPr>
        <p:spPr>
          <a:xfrm>
            <a:off x="3566160" y="2697480"/>
            <a:ext cx="2377439" cy="411480"/>
          </a:xfrm>
          <a:prstGeom prst="rect">
            <a:avLst/>
          </a:prstGeom>
          <a:noFill/>
        </p:spPr>
        <p:txBody>
          <a:bodyPr wrap="square" lIns="45720" tIns="27432" rIns="45720" bIns="27432" anchor="t">
            <a:spAutoFit/>
          </a:bodyPr>
          <a:lstStyle/>
          <a:p>
            <a:pPr algn="ctr">
              <a:spcAft>
                <a:spcPts val="600"/>
              </a:spcAft>
            </a:pPr>
            <a:r>
              <a:rPr sz="1200" b="0" i="0">
                <a:solidFill>
                  <a:srgbClr val="5A5A5A"/>
                </a:solidFill>
              </a:rPr>
              <a:t>sensors · 145 sites</a:t>
            </a:r>
            <a:endParaRPr sz="1200" b="0" i="0">
              <a:solidFill>
                <a:srgbClr val="5A5A5A"/>
              </a:solidFill>
            </a:endParaRPr>
          </a:p>
        </p:txBody>
      </p:sp>
      <p:sp>
        <p:nvSpPr>
          <p:cNvPr id="9" name="Rounded Rectangle 8"/>
          <p:cNvSpPr/>
          <p:nvPr/>
        </p:nvSpPr>
        <p:spPr>
          <a:xfrm>
            <a:off x="6263640" y="1920240"/>
            <a:ext cx="2560320" cy="123444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79" y="1993392"/>
            <a:ext cx="2377439" cy="731520"/>
          </a:xfrm>
          <a:prstGeom prst="rect">
            <a:avLst/>
          </a:prstGeom>
          <a:noFill/>
        </p:spPr>
        <p:txBody>
          <a:bodyPr wrap="square" lIns="45720" tIns="27432" rIns="45720" bIns="27432" anchor="t">
            <a:spAutoFit/>
          </a:bodyPr>
          <a:lstStyle/>
          <a:p>
            <a:pPr algn="ctr">
              <a:spcAft>
                <a:spcPts val="600"/>
              </a:spcAft>
            </a:pPr>
            <a:r>
              <a:rPr sz="3400" b="1" i="0">
                <a:solidFill>
                  <a:srgbClr val="D7014D"/>
                </a:solidFill>
              </a:rPr>
              <a:t>8 days</a:t>
            </a:r>
            <a:endParaRPr sz="3400" b="1" i="0">
              <a:solidFill>
                <a:srgbClr val="D7014D"/>
              </a:solidFill>
            </a:endParaRPr>
          </a:p>
        </p:txBody>
      </p:sp>
      <p:sp>
        <p:nvSpPr>
          <p:cNvPr id="11" name="TextBox 10"/>
          <p:cNvSpPr txBox="1"/>
          <p:nvPr/>
        </p:nvSpPr>
        <p:spPr>
          <a:xfrm>
            <a:off x="6355079" y="2697480"/>
            <a:ext cx="2377439" cy="411480"/>
          </a:xfrm>
          <a:prstGeom prst="rect">
            <a:avLst/>
          </a:prstGeom>
          <a:noFill/>
        </p:spPr>
        <p:txBody>
          <a:bodyPr wrap="square" lIns="45720" tIns="27432" rIns="45720" bIns="27432" anchor="t">
            <a:spAutoFit/>
          </a:bodyPr>
          <a:lstStyle/>
          <a:p>
            <a:pPr algn="ctr">
              <a:spcAft>
                <a:spcPts val="600"/>
              </a:spcAft>
            </a:pPr>
            <a:r>
              <a:rPr sz="1200" b="0" i="0">
                <a:solidFill>
                  <a:srgbClr val="5A5A5A"/>
                </a:solidFill>
              </a:rPr>
              <a:t>1–3 Jan · 1–2 Apr · 1–3 Jun</a:t>
            </a:r>
            <a:endParaRPr sz="1200" b="0" i="0">
              <a:solidFill>
                <a:srgbClr val="5A5A5A"/>
              </a:solidFill>
            </a:endParaRPr>
          </a:p>
        </p:txBody>
      </p:sp>
      <p:sp>
        <p:nvSpPr>
          <p:cNvPr id="12" name="Rounded Rectangle 11"/>
          <p:cNvSpPr/>
          <p:nvPr/>
        </p:nvSpPr>
        <p:spPr>
          <a:xfrm>
            <a:off x="9052559" y="1920240"/>
            <a:ext cx="2560320" cy="123444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3999" y="1993392"/>
            <a:ext cx="2377439" cy="731520"/>
          </a:xfrm>
          <a:prstGeom prst="rect">
            <a:avLst/>
          </a:prstGeom>
          <a:noFill/>
        </p:spPr>
        <p:txBody>
          <a:bodyPr wrap="square" lIns="45720" tIns="27432" rIns="45720" bIns="27432" anchor="t">
            <a:spAutoFit/>
          </a:bodyPr>
          <a:lstStyle/>
          <a:p>
            <a:pPr algn="ctr">
              <a:spcAft>
                <a:spcPts val="600"/>
              </a:spcAft>
            </a:pPr>
            <a:r>
              <a:rPr sz="3400" b="1" i="0">
                <a:solidFill>
                  <a:srgbClr val="D7014D"/>
                </a:solidFill>
              </a:rPr>
              <a:t>1.9 %</a:t>
            </a:r>
            <a:endParaRPr sz="3400" b="1" i="0">
              <a:solidFill>
                <a:srgbClr val="D7014D"/>
              </a:solidFill>
            </a:endParaRPr>
          </a:p>
        </p:txBody>
      </p:sp>
      <p:sp>
        <p:nvSpPr>
          <p:cNvPr id="14" name="TextBox 13"/>
          <p:cNvSpPr txBox="1"/>
          <p:nvPr/>
        </p:nvSpPr>
        <p:spPr>
          <a:xfrm>
            <a:off x="9143999" y="2697480"/>
            <a:ext cx="2377439" cy="411480"/>
          </a:xfrm>
          <a:prstGeom prst="rect">
            <a:avLst/>
          </a:prstGeom>
          <a:noFill/>
        </p:spPr>
        <p:txBody>
          <a:bodyPr wrap="square" lIns="45720" tIns="27432" rIns="45720" bIns="27432" anchor="t">
            <a:spAutoFit/>
          </a:bodyPr>
          <a:lstStyle/>
          <a:p>
            <a:pPr algn="ctr">
              <a:spcAft>
                <a:spcPts val="600"/>
              </a:spcAft>
            </a:pPr>
            <a:r>
              <a:rPr sz="1200" b="0" i="0">
                <a:solidFill>
                  <a:srgbClr val="5A5A5A"/>
                </a:solidFill>
              </a:rPr>
              <a:t>of the Jan–Jul hourly grid observed</a:t>
            </a:r>
            <a:endParaRPr sz="1200" b="0" i="0">
              <a:solidFill>
                <a:srgbClr val="5A5A5A"/>
              </a:solidFill>
            </a:endParaRPr>
          </a:p>
        </p:txBody>
      </p:sp>
      <p:pic>
        <p:nvPicPr>
          <p:cNvPr id="15" name="Picture 14" descr="eda_calendar_kampala5.png"/>
          <p:cNvPicPr>
            <a:picLocks noChangeAspect="1"/>
          </p:cNvPicPr>
          <p:nvPr/>
        </p:nvPicPr>
        <p:blipFill>
          <a:blip r:embed="rId1"/>
          <a:stretch>
            <a:fillRect/>
          </a:stretch>
        </p:blipFill>
        <p:spPr>
          <a:xfrm>
            <a:off x="685800" y="3451527"/>
            <a:ext cx="10789920" cy="2195224"/>
          </a:xfrm>
          <a:prstGeom prst="rect">
            <a:avLst/>
          </a:prstGeom>
        </p:spPr>
      </p:pic>
      <p:sp>
        <p:nvSpPr>
          <p:cNvPr id="16" name="TextBox 15"/>
          <p:cNvSpPr txBox="1"/>
          <p:nvPr/>
        </p:nvSpPr>
        <p:spPr>
          <a:xfrm>
            <a:off x="685800" y="5833872"/>
            <a:ext cx="10789920" cy="292608"/>
          </a:xfrm>
          <a:prstGeom prst="rect">
            <a:avLst/>
          </a:prstGeom>
          <a:noFill/>
        </p:spPr>
        <p:txBody>
          <a:bodyPr wrap="square" lIns="45720" tIns="27432" rIns="45720" bIns="27432" anchor="t">
            <a:spAutoFit/>
          </a:bodyPr>
          <a:lstStyle/>
          <a:p>
            <a:pPr algn="l">
              <a:spcAft>
                <a:spcPts val="600"/>
              </a:spcAft>
            </a:pPr>
            <a:r>
              <a:rPr sz="1000" b="0" i="1">
                <a:solidFill>
                  <a:srgbClr val="5A5A5A"/>
                </a:solidFill>
              </a:rPr>
              <a:t>Daily mean PM2.5, average of 5 Kampala sensors, coloured by AQI category. Grey = sensors offline / no data.</a:t>
            </a:r>
            <a:endParaRPr sz="1000" b="0" i="1">
              <a:solidFill>
                <a:srgbClr val="5A5A5A"/>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5800" y="685800"/>
            <a:ext cx="9052560" cy="777240"/>
          </a:xfrm>
        </p:spPr>
        <p:txBody>
          <a:bodyPr anchor="ctr"/>
          <a:lstStyle/>
          <a:p>
            <a:r>
              <a:rPr sz="3000"/>
              <a:t>Cleaning: fix errors, keep real spikes</a:t>
            </a:r>
            <a:endParaRPr sz="3000"/>
          </a:p>
        </p:txBody>
      </p:sp>
      <p:graphicFrame>
        <p:nvGraphicFramePr>
          <p:cNvPr id="3" name="Table 2"/>
          <p:cNvGraphicFramePr>
            <a:graphicFrameLocks noGrp="1"/>
          </p:cNvGraphicFramePr>
          <p:nvPr/>
        </p:nvGraphicFramePr>
        <p:xfrm>
          <a:off x="685800" y="1920240"/>
          <a:ext cx="10789920" cy="3785616"/>
        </p:xfrm>
        <a:graphic>
          <a:graphicData uri="http://schemas.openxmlformats.org/drawingml/2006/table">
            <a:tbl>
              <a:tblPr firstRow="1" bandRow="1">
                <a:tableStyleId>{5C22544A-7EE6-4342-B048-85BDC9FD1C3A}</a:tableStyleId>
              </a:tblPr>
              <a:tblGrid>
                <a:gridCol w="1920240"/>
                <a:gridCol w="5394960"/>
                <a:gridCol w="3474720"/>
              </a:tblGrid>
              <a:tr h="420624">
                <a:tc>
                  <a:txBody>
                    <a:bodyPr/>
                    <a:lstStyle/>
                    <a:p>
                      <a:r>
                        <a:rPr sz="1200" b="1">
                          <a:solidFill>
                            <a:srgbClr val="FFFFFF"/>
                          </a:solidFill>
                        </a:rPr>
                        <a:t>Step</a:t>
                      </a:r>
                      <a:endParaRPr sz="1200" b="1">
                        <a:solidFill>
                          <a:srgbClr val="FFFFFF"/>
                        </a:solidFill>
                      </a:endParaRPr>
                    </a:p>
                  </a:txBody>
                  <a:tcPr marL="54864" marR="54864" marT="18288" marB="18288" anchor="ctr">
                    <a:solidFill>
                      <a:srgbClr val="0B3D91"/>
                    </a:solidFill>
                  </a:tcPr>
                </a:tc>
                <a:tc>
                  <a:txBody>
                    <a:bodyPr/>
                    <a:lstStyle/>
                    <a:p>
                      <a:r>
                        <a:rPr sz="1200" b="1">
                          <a:solidFill>
                            <a:srgbClr val="FFFFFF"/>
                          </a:solidFill>
                        </a:rPr>
                        <a:t>Rule</a:t>
                      </a:r>
                      <a:endParaRPr sz="1200" b="1">
                        <a:solidFill>
                          <a:srgbClr val="FFFFFF"/>
                        </a:solidFill>
                      </a:endParaRPr>
                    </a:p>
                  </a:txBody>
                  <a:tcPr marL="54864" marR="54864" marT="18288" marB="18288" anchor="ctr">
                    <a:solidFill>
                      <a:srgbClr val="0B3D91"/>
                    </a:solidFill>
                  </a:tcPr>
                </a:tc>
                <a:tc>
                  <a:txBody>
                    <a:bodyPr/>
                    <a:lstStyle/>
                    <a:p>
                      <a:r>
                        <a:rPr sz="1200" b="1">
                          <a:solidFill>
                            <a:srgbClr val="FFFFFF"/>
                          </a:solidFill>
                        </a:rPr>
                        <a:t>Effect</a:t>
                      </a:r>
                      <a:endParaRPr sz="1200" b="1">
                        <a:solidFill>
                          <a:srgbClr val="FFFFFF"/>
                        </a:solidFill>
                      </a:endParaRPr>
                    </a:p>
                  </a:txBody>
                  <a:tcPr marL="54864" marR="54864" marT="18288" marB="18288" anchor="ctr">
                    <a:solidFill>
                      <a:srgbClr val="0B3D91"/>
                    </a:solidFill>
                  </a:tcPr>
                </a:tc>
              </a:tr>
              <a:tr h="420624">
                <a:tc>
                  <a:txBody>
                    <a:bodyPr/>
                    <a:lstStyle/>
                    <a:p>
                      <a:r>
                        <a:rPr sz="1200" b="0">
                          <a:solidFill>
                            <a:srgbClr val="222222"/>
                          </a:solidFill>
                        </a:rPr>
                        <a:t>Zeros → null</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temp, humidity, PM, lat, lon = 0 means 'no reading'</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≈28 % of temp/RH, 21 % of coords</a:t>
                      </a:r>
                      <a:endParaRPr sz="1200" b="0">
                        <a:solidFill>
                          <a:srgbClr val="222222"/>
                        </a:solidFill>
                      </a:endParaRPr>
                    </a:p>
                  </a:txBody>
                  <a:tcPr marL="54864" marR="54864" marT="18288" marB="18288" anchor="ctr">
                    <a:solidFill>
                      <a:srgbClr val="FFFFFF"/>
                    </a:solidFill>
                  </a:tcPr>
                </a:tc>
              </a:tr>
              <a:tr h="420624">
                <a:tc>
                  <a:txBody>
                    <a:bodyPr/>
                    <a:lstStyle/>
                    <a:p>
                      <a:r>
                        <a:rPr sz="1200" b="0">
                          <a:solidFill>
                            <a:srgbClr val="222222"/>
                          </a:solidFill>
                        </a:rPr>
                        <a:t>Coordinates</a:t>
                      </a:r>
                      <a:endParaRPr sz="1200" b="0">
                        <a:solidFill>
                          <a:srgbClr val="222222"/>
                        </a:solidFill>
                      </a:endParaRPr>
                    </a:p>
                  </a:txBody>
                  <a:tcPr marL="54864" marR="54864" marT="18288" marB="18288" anchor="ctr">
                    <a:solidFill>
                      <a:srgbClr val="EEF2FA"/>
                    </a:solidFill>
                  </a:tcPr>
                </a:tc>
                <a:tc>
                  <a:txBody>
                    <a:bodyPr/>
                    <a:lstStyle/>
                    <a:p>
                      <a:r>
                        <a:rPr lang="en-US" sz="1200" b="0">
                          <a:solidFill>
                            <a:srgbClr val="222222"/>
                          </a:solidFill>
                        </a:rPr>
                        <a:t>since a GPS is fixed we just used the same value last recorded</a:t>
                      </a:r>
                      <a:endParaRPr lang="en-US" sz="1200" b="0">
                        <a:solidFill>
                          <a:srgbClr val="222222"/>
                        </a:solidFill>
                      </a:endParaRPr>
                    </a:p>
                  </a:txBody>
                  <a:tcPr marL="54864" marR="54864" marT="18288" marB="18288" anchor="ctr">
                    <a:solidFill>
                      <a:srgbClr val="EEF2FA"/>
                    </a:solidFill>
                  </a:tcPr>
                </a:tc>
                <a:tc>
                  <a:txBody>
                    <a:bodyPr/>
                    <a:lstStyle/>
                    <a:p>
                      <a:r>
                        <a:rPr sz="1200" b="0">
                          <a:solidFill>
                            <a:srgbClr val="222222"/>
                          </a:solidFill>
                        </a:rPr>
                        <a:t>103 bad fixes; 6 devices geocoded</a:t>
                      </a:r>
                      <a:endParaRPr sz="1200" b="0">
                        <a:solidFill>
                          <a:srgbClr val="222222"/>
                        </a:solidFill>
                      </a:endParaRPr>
                    </a:p>
                  </a:txBody>
                  <a:tcPr marL="54864" marR="54864" marT="18288" marB="18288" anchor="ctr">
                    <a:solidFill>
                      <a:srgbClr val="EEF2FA"/>
                    </a:solidFill>
                  </a:tcPr>
                </a:tc>
              </a:tr>
              <a:tr h="420624">
                <a:tc>
                  <a:txBody>
                    <a:bodyPr/>
                    <a:lstStyle/>
                    <a:p>
                      <a:r>
                        <a:rPr sz="1200" b="0">
                          <a:solidFill>
                            <a:srgbClr val="222222"/>
                          </a:solidFill>
                        </a:rPr>
                        <a:t>Physical limits</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PM2.5 &gt; 500, temp ∉ 5–45 °C, RH ∉ 1–100 % → null</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3 PM2.5 values removed</a:t>
                      </a:r>
                      <a:endParaRPr sz="1200" b="0">
                        <a:solidFill>
                          <a:srgbClr val="222222"/>
                        </a:solidFill>
                      </a:endParaRPr>
                    </a:p>
                  </a:txBody>
                  <a:tcPr marL="54864" marR="54864" marT="18288" marB="18288" anchor="ctr">
                    <a:solidFill>
                      <a:srgbClr val="FFFFFF"/>
                    </a:solidFill>
                  </a:tcPr>
                </a:tc>
              </a:tr>
              <a:tr h="420624">
                <a:tc>
                  <a:txBody>
                    <a:bodyPr/>
                    <a:lstStyle/>
                    <a:p>
                      <a:r>
                        <a:rPr sz="1200" b="0">
                          <a:solidFill>
                            <a:srgbClr val="222222"/>
                          </a:solidFill>
                        </a:rPr>
                        <a:t>Outliers</a:t>
                      </a:r>
                      <a:endParaRPr sz="1200" b="0">
                        <a:solidFill>
                          <a:srgbClr val="222222"/>
                        </a:solidFill>
                      </a:endParaRPr>
                    </a:p>
                  </a:txBody>
                  <a:tcPr marL="54864" marR="54864" marT="18288" marB="18288" anchor="ctr">
                    <a:solidFill>
                      <a:srgbClr val="EEF2FA"/>
                    </a:solidFill>
                  </a:tcPr>
                </a:tc>
                <a:tc>
                  <a:txBody>
                    <a:bodyPr/>
                    <a:lstStyle/>
                    <a:p>
                      <a:r>
                        <a:rPr sz="1200" b="0">
                          <a:solidFill>
                            <a:srgbClr val="222222"/>
                          </a:solidFill>
                        </a:rPr>
                        <a:t>per-sensor robust Z &gt; 3.5 → flagged, kept</a:t>
                      </a:r>
                      <a:endParaRPr sz="1200" b="0">
                        <a:solidFill>
                          <a:srgbClr val="222222"/>
                        </a:solidFill>
                      </a:endParaRPr>
                    </a:p>
                  </a:txBody>
                  <a:tcPr marL="54864" marR="54864" marT="18288" marB="18288" anchor="ctr">
                    <a:solidFill>
                      <a:srgbClr val="EEF2FA"/>
                    </a:solidFill>
                  </a:tcPr>
                </a:tc>
                <a:tc>
                  <a:txBody>
                    <a:bodyPr/>
                    <a:lstStyle/>
                    <a:p>
                      <a:r>
                        <a:rPr sz="1200" b="0">
                          <a:solidFill>
                            <a:srgbClr val="222222"/>
                          </a:solidFill>
                        </a:rPr>
                        <a:t>1,161 flagged (real spikes)</a:t>
                      </a:r>
                      <a:endParaRPr sz="1200" b="0">
                        <a:solidFill>
                          <a:srgbClr val="222222"/>
                        </a:solidFill>
                      </a:endParaRPr>
                    </a:p>
                  </a:txBody>
                  <a:tcPr marL="54864" marR="54864" marT="18288" marB="18288" anchor="ctr">
                    <a:solidFill>
                      <a:srgbClr val="EEF2FA"/>
                    </a:solidFill>
                  </a:tcPr>
                </a:tc>
              </a:tr>
              <a:tr h="420624">
                <a:tc>
                  <a:txBody>
                    <a:bodyPr/>
                    <a:lstStyle/>
                    <a:p>
                      <a:r>
                        <a:rPr sz="1200" b="0">
                          <a:solidFill>
                            <a:srgbClr val="222222"/>
                          </a:solidFill>
                        </a:rPr>
                        <a:t>Columns dropped</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site_id (51 % empty), frequency (constant)</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device_name is the key</a:t>
                      </a:r>
                      <a:endParaRPr sz="1200" b="0">
                        <a:solidFill>
                          <a:srgbClr val="222222"/>
                        </a:solidFill>
                      </a:endParaRPr>
                    </a:p>
                  </a:txBody>
                  <a:tcPr marL="54864" marR="54864" marT="18288" marB="18288" anchor="ctr">
                    <a:solidFill>
                      <a:srgbClr val="FFFFFF"/>
                    </a:solidFill>
                  </a:tcPr>
                </a:tc>
              </a:tr>
              <a:tr h="420624">
                <a:tc>
                  <a:txBody>
                    <a:bodyPr/>
                    <a:lstStyle/>
                    <a:p>
                      <a:r>
                        <a:rPr sz="1200" b="0">
                          <a:solidFill>
                            <a:srgbClr val="222222"/>
                          </a:solidFill>
                        </a:rPr>
                        <a:t>Types</a:t>
                      </a:r>
                      <a:endParaRPr sz="1200" b="0">
                        <a:solidFill>
                          <a:srgbClr val="222222"/>
                        </a:solidFill>
                      </a:endParaRPr>
                    </a:p>
                  </a:txBody>
                  <a:tcPr marL="54864" marR="54864" marT="18288" marB="18288" anchor="ctr">
                    <a:solidFill>
                      <a:srgbClr val="EEF2FA"/>
                    </a:solidFill>
                  </a:tcPr>
                </a:tc>
                <a:tc>
                  <a:txBody>
                    <a:bodyPr/>
                    <a:lstStyle/>
                    <a:p>
                      <a:r>
                        <a:rPr sz="1200" b="0">
                          <a:solidFill>
                            <a:srgbClr val="222222"/>
                          </a:solidFill>
                        </a:rPr>
                        <a:t>UTC → Kampala time; floats; IDs as category</a:t>
                      </a:r>
                      <a:endParaRPr sz="1200" b="0">
                        <a:solidFill>
                          <a:srgbClr val="222222"/>
                        </a:solidFill>
                      </a:endParaRPr>
                    </a:p>
                  </a:txBody>
                  <a:tcPr marL="54864" marR="54864" marT="18288" marB="18288" anchor="ctr">
                    <a:solidFill>
                      <a:srgbClr val="EEF2FA"/>
                    </a:solidFill>
                  </a:tcPr>
                </a:tc>
                <a:tc>
                  <a:txBody>
                    <a:bodyPr/>
                    <a:lstStyle/>
                    <a:p>
                      <a:r>
                        <a:rPr sz="1200" b="0">
                          <a:solidFill>
                            <a:srgbClr val="222222"/>
                          </a:solidFill>
                        </a:rPr>
                        <a:t>consistent across fields</a:t>
                      </a:r>
                      <a:endParaRPr sz="1200" b="0">
                        <a:solidFill>
                          <a:srgbClr val="222222"/>
                        </a:solidFill>
                      </a:endParaRPr>
                    </a:p>
                  </a:txBody>
                  <a:tcPr marL="54864" marR="54864" marT="18288" marB="18288" anchor="ctr">
                    <a:solidFill>
                      <a:srgbClr val="EEF2FA"/>
                    </a:solidFill>
                  </a:tcPr>
                </a:tc>
              </a:tr>
              <a:tr h="420624">
                <a:tc>
                  <a:txBody>
                    <a:bodyPr/>
                    <a:lstStyle/>
                    <a:p>
                      <a:r>
                        <a:rPr sz="1200" b="0">
                          <a:solidFill>
                            <a:srgbClr val="222222"/>
                          </a:solidFill>
                        </a:rPr>
                        <a:t>Hourly grid</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every sensor × every hour, 1 Jan–31 Jul</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758,112 rows, is_observed flag</a:t>
                      </a:r>
                      <a:endParaRPr sz="1200" b="0">
                        <a:solidFill>
                          <a:srgbClr val="222222"/>
                        </a:solidFill>
                      </a:endParaRPr>
                    </a:p>
                  </a:txBody>
                  <a:tcPr marL="54864" marR="54864" marT="18288" marB="18288" anchor="ctr">
                    <a:solidFill>
                      <a:srgbClr val="FFFFFF"/>
                    </a:solidFill>
                  </a:tcPr>
                </a:tc>
              </a:tr>
              <a:tr h="420624">
                <a:tc>
                  <a:txBody>
                    <a:bodyPr/>
                    <a:lstStyle/>
                    <a:p>
                      <a:r>
                        <a:rPr sz="1200" b="0">
                          <a:solidFill>
                            <a:srgbClr val="222222"/>
                          </a:solidFill>
                        </a:rPr>
                        <a:t>Gap filling</a:t>
                      </a:r>
                      <a:endParaRPr sz="1200" b="0">
                        <a:solidFill>
                          <a:srgbClr val="222222"/>
                        </a:solidFill>
                      </a:endParaRPr>
                    </a:p>
                  </a:txBody>
                  <a:tcPr marL="54864" marR="54864" marT="18288" marB="18288" anchor="ctr">
                    <a:solidFill>
                      <a:srgbClr val="EEF2FA"/>
                    </a:solidFill>
                  </a:tcPr>
                </a:tc>
                <a:tc>
                  <a:txBody>
                    <a:bodyPr/>
                    <a:lstStyle/>
                    <a:p>
                      <a:r>
                        <a:rPr sz="1200" b="0">
                          <a:solidFill>
                            <a:srgbClr val="222222"/>
                          </a:solidFill>
                        </a:rPr>
                        <a:t>linear interpolation only for gaps ≤ 3 h</a:t>
                      </a:r>
                      <a:r>
                        <a:rPr lang="en-US" sz="1200" b="0">
                          <a:solidFill>
                            <a:srgbClr val="222222"/>
                          </a:solidFill>
                        </a:rPr>
                        <a:t> and the rest considered as null</a:t>
                      </a:r>
                      <a:endParaRPr lang="en-US" sz="1200" b="0">
                        <a:solidFill>
                          <a:srgbClr val="222222"/>
                        </a:solidFill>
                      </a:endParaRPr>
                    </a:p>
                  </a:txBody>
                  <a:tcPr marL="54864" marR="54864" marT="18288" marB="18288" anchor="ctr">
                    <a:solidFill>
                      <a:srgbClr val="EEF2FA"/>
                    </a:solidFill>
                  </a:tcPr>
                </a:tc>
                <a:tc>
                  <a:txBody>
                    <a:bodyPr/>
                    <a:lstStyle/>
                    <a:p>
                      <a:r>
                        <a:rPr sz="1200" b="0">
                          <a:solidFill>
                            <a:srgbClr val="222222"/>
                          </a:solidFill>
                        </a:rPr>
                        <a:t>1,976 hours filled</a:t>
                      </a:r>
                      <a:endParaRPr sz="1200" b="0">
                        <a:solidFill>
                          <a:srgbClr val="222222"/>
                        </a:solidFill>
                      </a:endParaRPr>
                    </a:p>
                  </a:txBody>
                  <a:tcPr marL="54864" marR="54864" marT="18288" marB="18288" anchor="ctr">
                    <a:solidFill>
                      <a:srgbClr val="EEF2FA"/>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Exploratory Data Analysis</a:t>
            </a:r>
          </a:p>
        </p:txBody>
      </p:sp>
      <p:sp>
        <p:nvSpPr>
          <p:cNvPr id="3" name="Text Placeholder 2"/>
          <p:cNvSpPr>
            <a:spLocks noGrp="1"/>
          </p:cNvSpPr>
          <p:nvPr>
            <p:ph type="body" idx="1"/>
          </p:nvPr>
        </p:nvSpPr>
        <p:spPr/>
        <p:txBody>
          <a:bodyPr/>
          <a:lstStyle/>
          <a:p>
            <a:r>
              <a:t>Five Kampala sensors · distributions · AQI time series · calendar · Z-score · weather correlation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5800" y="685800"/>
            <a:ext cx="9052560" cy="777240"/>
          </a:xfrm>
        </p:spPr>
        <p:txBody>
          <a:bodyPr anchor="ctr"/>
          <a:lstStyle/>
          <a:p>
            <a:r>
              <a:rPr sz="3000"/>
              <a:t>PM2.5 is right-skewed, with real pollution spikes</a:t>
            </a:r>
            <a:endParaRPr sz="3000"/>
          </a:p>
        </p:txBody>
      </p:sp>
      <p:pic>
        <p:nvPicPr>
          <p:cNvPr id="3" name="Picture 2" descr="eda_distributions.png"/>
          <p:cNvPicPr>
            <a:picLocks noChangeAspect="1"/>
          </p:cNvPicPr>
          <p:nvPr/>
        </p:nvPicPr>
        <p:blipFill>
          <a:blip r:embed="rId1"/>
          <a:stretch>
            <a:fillRect/>
          </a:stretch>
        </p:blipFill>
        <p:spPr>
          <a:xfrm>
            <a:off x="606114" y="1828800"/>
            <a:ext cx="6651610" cy="4069080"/>
          </a:xfrm>
          <a:prstGeom prst="rect">
            <a:avLst/>
          </a:prstGeom>
        </p:spPr>
      </p:pic>
      <p:sp>
        <p:nvSpPr>
          <p:cNvPr id="4" name="TextBox 3"/>
          <p:cNvSpPr txBox="1"/>
          <p:nvPr/>
        </p:nvSpPr>
        <p:spPr>
          <a:xfrm>
            <a:off x="7589520" y="1920240"/>
            <a:ext cx="3931920" cy="3931920"/>
          </a:xfrm>
          <a:prstGeom prst="rect">
            <a:avLst/>
          </a:prstGeom>
          <a:noFill/>
        </p:spPr>
        <p:txBody>
          <a:bodyPr wrap="square" lIns="45720" tIns="27432" rIns="45720" bIns="27432" anchor="t">
            <a:spAutoFit/>
          </a:bodyPr>
          <a:lstStyle/>
          <a:p>
            <a:pPr algn="l">
              <a:spcAft>
                <a:spcPts val="600"/>
              </a:spcAft>
            </a:pPr>
            <a:r>
              <a:rPr sz="1600" b="1" i="0">
                <a:solidFill>
                  <a:srgbClr val="0B3D91"/>
                </a:solidFill>
              </a:rPr>
              <a:t>What we see</a:t>
            </a:r>
            <a:endParaRPr sz="1600" b="1" i="0">
              <a:solidFill>
                <a:srgbClr val="0B3D91"/>
              </a:solidFill>
            </a:endParaRPr>
          </a:p>
          <a:p>
            <a:pPr algn="l">
              <a:spcAft>
                <a:spcPts val="600"/>
              </a:spcAft>
            </a:pPr>
            <a:r>
              <a:rPr sz="1300" b="0" i="0">
                <a:solidFill>
                  <a:srgbClr val="222222"/>
                </a:solidFill>
              </a:rPr>
              <a:t>• PM2.5 skewness 1.74: mean &gt; median, long right tail</a:t>
            </a:r>
            <a:endParaRPr sz="1300" b="0" i="0">
              <a:solidFill>
                <a:srgbClr val="222222"/>
              </a:solidFill>
            </a:endParaRPr>
          </a:p>
          <a:p>
            <a:pPr algn="l">
              <a:spcAft>
                <a:spcPts val="600"/>
              </a:spcAft>
            </a:pPr>
            <a:r>
              <a:rPr sz="1300" b="0" i="0">
                <a:solidFill>
                  <a:srgbClr val="222222"/>
                </a:solidFill>
              </a:rPr>
              <a:t>• Salama Road and Bukoto have the heaviest tails (max 291 and 186 µg/m³)</a:t>
            </a:r>
            <a:endParaRPr sz="1300" b="0" i="0">
              <a:solidFill>
                <a:srgbClr val="222222"/>
              </a:solidFill>
            </a:endParaRPr>
          </a:p>
          <a:p>
            <a:pPr algn="l">
              <a:spcAft>
                <a:spcPts val="600"/>
              </a:spcAft>
            </a:pPr>
            <a:r>
              <a:rPr sz="1300" b="0" i="0">
                <a:solidFill>
                  <a:srgbClr val="222222"/>
                </a:solidFill>
              </a:rPr>
              <a:t>• PM10 has the same shape, about 1.3× larger: it is a sibling of PM2.5, not a predictor</a:t>
            </a:r>
            <a:endParaRPr sz="1300" b="0" i="0">
              <a:solidFill>
                <a:srgbClr val="222222"/>
              </a:solidFill>
            </a:endParaRPr>
          </a:p>
          <a:p>
            <a:pPr algn="l">
              <a:spcAft>
                <a:spcPts val="600"/>
              </a:spcAft>
            </a:pPr>
            <a:r>
              <a:rPr sz="1300" b="0" i="0">
                <a:solidFill>
                  <a:srgbClr val="222222"/>
                </a:solidFill>
              </a:rPr>
              <a:t>• Kampala is humid: RH mostly 70–95 %, temperature 18–32 °C</a:t>
            </a:r>
            <a:endParaRPr sz="1300" b="0" i="0">
              <a:solidFill>
                <a:srgbClr val="222222"/>
              </a:solidFill>
            </a:endParaRPr>
          </a:p>
          <a:p>
            <a:pPr algn="l">
              <a:spcAft>
                <a:spcPts val="600"/>
              </a:spcAft>
            </a:pPr>
            <a:r>
              <a:rPr sz="1600" b="1" i="0">
                <a:solidFill>
                  <a:srgbClr val="0B3D91"/>
                </a:solidFill>
              </a:rPr>
              <a:t>Outlier treatment</a:t>
            </a:r>
            <a:endParaRPr sz="1600" b="1" i="0">
              <a:solidFill>
                <a:srgbClr val="0B3D91"/>
              </a:solidFill>
            </a:endParaRPr>
          </a:p>
          <a:p>
            <a:pPr algn="l">
              <a:spcAft>
                <a:spcPts val="600"/>
              </a:spcAft>
            </a:pPr>
            <a:r>
              <a:rPr sz="1300" b="0" i="0">
                <a:solidFill>
                  <a:srgbClr val="222222"/>
                </a:solidFill>
              </a:rPr>
              <a:t>• IQR and robust-Z outliers are flagged and kept: they coincide with rush hours, so they are pollution, not error</a:t>
            </a:r>
            <a:endParaRPr sz="1300" b="0" i="0">
              <a:solidFill>
                <a:srgbClr val="22222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5800" y="685800"/>
            <a:ext cx="9052560" cy="777240"/>
          </a:xfrm>
        </p:spPr>
        <p:txBody>
          <a:bodyPr anchor="ctr"/>
          <a:lstStyle/>
          <a:p>
            <a:r>
              <a:rPr sz="3000"/>
              <a:t>Hourly PM2.5 against the AQI bands</a:t>
            </a:r>
            <a:endParaRPr sz="3000"/>
          </a:p>
        </p:txBody>
      </p:sp>
      <p:pic>
        <p:nvPicPr>
          <p:cNvPr id="3" name="Picture 2" descr="eda_timeseries_aqi.png"/>
          <p:cNvPicPr>
            <a:picLocks noChangeAspect="1"/>
          </p:cNvPicPr>
          <p:nvPr/>
        </p:nvPicPr>
        <p:blipFill>
          <a:blip r:embed="rId1"/>
          <a:stretch>
            <a:fillRect/>
          </a:stretch>
        </p:blipFill>
        <p:spPr>
          <a:xfrm>
            <a:off x="548640" y="1850524"/>
            <a:ext cx="11064240" cy="3934191"/>
          </a:xfrm>
          <a:prstGeom prst="rect">
            <a:avLst/>
          </a:prstGeom>
        </p:spPr>
      </p:pic>
      <p:sp>
        <p:nvSpPr>
          <p:cNvPr id="4" name="TextBox 3"/>
          <p:cNvSpPr txBox="1"/>
          <p:nvPr/>
        </p:nvSpPr>
        <p:spPr>
          <a:xfrm>
            <a:off x="685800" y="5833872"/>
            <a:ext cx="10789920" cy="292608"/>
          </a:xfrm>
          <a:prstGeom prst="rect">
            <a:avLst/>
          </a:prstGeom>
          <a:noFill/>
        </p:spPr>
        <p:txBody>
          <a:bodyPr wrap="square" lIns="45720" tIns="27432" rIns="45720" bIns="27432" anchor="t">
            <a:spAutoFit/>
          </a:bodyPr>
          <a:lstStyle/>
          <a:p>
            <a:pPr algn="l">
              <a:spcAft>
                <a:spcPts val="600"/>
              </a:spcAft>
            </a:pPr>
            <a:r>
              <a:rPr sz="1000" b="0" i="1">
                <a:solidFill>
                  <a:srgbClr val="5A5A5A"/>
                </a:solidFill>
              </a:rPr>
              <a:t>January (dry season) mean 48.7 µg/m³ vs ≈ 24 µg/m³ in April and June: January spends most hours in the red 'Unhealthy' band.</a:t>
            </a:r>
            <a:endParaRPr sz="1000" b="0" i="1">
              <a:solidFill>
                <a:srgbClr val="5A5A5A"/>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5800" y="685800"/>
            <a:ext cx="9052560" cy="777240"/>
          </a:xfrm>
        </p:spPr>
        <p:txBody>
          <a:bodyPr anchor="ctr"/>
          <a:lstStyle/>
          <a:p>
            <a:r>
              <a:rPr sz="3000"/>
              <a:t>Two daily peaks: morning and evening</a:t>
            </a:r>
            <a:endParaRPr sz="3000"/>
          </a:p>
        </p:txBody>
      </p:sp>
      <p:pic>
        <p:nvPicPr>
          <p:cNvPr id="3" name="Picture 2" descr="eda_diurnal.png"/>
          <p:cNvPicPr>
            <a:picLocks noChangeAspect="1"/>
          </p:cNvPicPr>
          <p:nvPr/>
        </p:nvPicPr>
        <p:blipFill>
          <a:blip r:embed="rId1"/>
          <a:stretch>
            <a:fillRect/>
          </a:stretch>
        </p:blipFill>
        <p:spPr>
          <a:xfrm>
            <a:off x="548640" y="2180275"/>
            <a:ext cx="6949440" cy="3228969"/>
          </a:xfrm>
          <a:prstGeom prst="rect">
            <a:avLst/>
          </a:prstGeom>
        </p:spPr>
      </p:pic>
      <p:sp>
        <p:nvSpPr>
          <p:cNvPr id="4" name="TextBox 3"/>
          <p:cNvSpPr txBox="1"/>
          <p:nvPr/>
        </p:nvSpPr>
        <p:spPr>
          <a:xfrm>
            <a:off x="7772400" y="2011680"/>
            <a:ext cx="3749039" cy="3749039"/>
          </a:xfrm>
          <a:prstGeom prst="rect">
            <a:avLst/>
          </a:prstGeom>
          <a:noFill/>
        </p:spPr>
        <p:txBody>
          <a:bodyPr wrap="square" lIns="45720" tIns="27432" rIns="45720" bIns="27432" anchor="t">
            <a:spAutoFit/>
          </a:bodyPr>
          <a:lstStyle/>
          <a:p>
            <a:pPr algn="l">
              <a:spcAft>
                <a:spcPts val="600"/>
              </a:spcAft>
            </a:pPr>
            <a:r>
              <a:rPr sz="1600" b="1" i="0">
                <a:solidFill>
                  <a:srgbClr val="0B3D91"/>
                </a:solidFill>
              </a:rPr>
              <a:t>Why the shape matters</a:t>
            </a:r>
            <a:endParaRPr sz="1600" b="1" i="0">
              <a:solidFill>
                <a:srgbClr val="0B3D91"/>
              </a:solidFill>
            </a:endParaRPr>
          </a:p>
          <a:p>
            <a:pPr algn="l">
              <a:spcAft>
                <a:spcPts val="600"/>
              </a:spcAft>
            </a:pPr>
            <a:r>
              <a:rPr sz="1300" b="0" i="0">
                <a:solidFill>
                  <a:srgbClr val="222222"/>
                </a:solidFill>
              </a:rPr>
              <a:t>• 07–10 h: commuter traffic + breakfast cooking under a shallow, stable morning layer</a:t>
            </a:r>
            <a:endParaRPr sz="1300" b="0" i="0">
              <a:solidFill>
                <a:srgbClr val="222222"/>
              </a:solidFill>
            </a:endParaRPr>
          </a:p>
          <a:p>
            <a:pPr algn="l">
              <a:spcAft>
                <a:spcPts val="600"/>
              </a:spcAft>
            </a:pPr>
            <a:r>
              <a:rPr sz="1300" b="0" i="0">
                <a:solidFill>
                  <a:srgbClr val="222222"/>
                </a:solidFill>
              </a:rPr>
              <a:t>• 13–16 h: sun heats the ground, the mixing layer deepens and PM2.5 is diluted</a:t>
            </a:r>
            <a:endParaRPr sz="1300" b="0" i="0">
              <a:solidFill>
                <a:srgbClr val="222222"/>
              </a:solidFill>
            </a:endParaRPr>
          </a:p>
          <a:p>
            <a:pPr algn="l">
              <a:spcAft>
                <a:spcPts val="600"/>
              </a:spcAft>
            </a:pPr>
            <a:r>
              <a:rPr sz="1300" b="0" i="0">
                <a:solidFill>
                  <a:srgbClr val="222222"/>
                </a:solidFill>
              </a:rPr>
              <a:t>• 19–23 h: evening traffic and cooking; the air cools and pollutants are trapped again</a:t>
            </a:r>
            <a:endParaRPr sz="1300" b="0" i="0">
              <a:solidFill>
                <a:srgbClr val="222222"/>
              </a:solidFill>
            </a:endParaRPr>
          </a:p>
          <a:p>
            <a:pPr algn="l">
              <a:spcAft>
                <a:spcPts val="600"/>
              </a:spcAft>
            </a:pPr>
            <a:r>
              <a:rPr sz="1300" b="1" i="0">
                <a:solidFill>
                  <a:srgbClr val="D7014D"/>
                </a:solidFill>
              </a:rPr>
              <a:t>→ Hour of day enters the model as sin/cos so 23 h and 0 h are neighbours</a:t>
            </a:r>
            <a:endParaRPr sz="1300" b="1" i="0">
              <a:solidFill>
                <a:srgbClr val="D7014D"/>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5800" y="685800"/>
            <a:ext cx="9052560" cy="777240"/>
          </a:xfrm>
        </p:spPr>
        <p:txBody>
          <a:bodyPr anchor="ctr"/>
          <a:lstStyle/>
          <a:p>
            <a:r>
              <a:rPr sz="3000"/>
              <a:t>Z-score: PM2.5 as 'how unusual'</a:t>
            </a:r>
            <a:endParaRPr sz="3000"/>
          </a:p>
        </p:txBody>
      </p:sp>
      <p:pic>
        <p:nvPicPr>
          <p:cNvPr id="3" name="Picture 2" descr="eda_zscore.png"/>
          <p:cNvPicPr>
            <a:picLocks noChangeAspect="1"/>
          </p:cNvPicPr>
          <p:nvPr/>
        </p:nvPicPr>
        <p:blipFill>
          <a:blip r:embed="rId1"/>
          <a:stretch>
            <a:fillRect/>
          </a:stretch>
        </p:blipFill>
        <p:spPr>
          <a:xfrm>
            <a:off x="548640" y="1937169"/>
            <a:ext cx="6309359" cy="1886381"/>
          </a:xfrm>
          <a:prstGeom prst="rect">
            <a:avLst/>
          </a:prstGeom>
        </p:spPr>
      </p:pic>
      <p:graphicFrame>
        <p:nvGraphicFramePr>
          <p:cNvPr id="4" name="Table 3"/>
          <p:cNvGraphicFramePr>
            <a:graphicFrameLocks noGrp="1"/>
          </p:cNvGraphicFramePr>
          <p:nvPr/>
        </p:nvGraphicFramePr>
        <p:xfrm>
          <a:off x="7223760" y="1920240"/>
          <a:ext cx="4297680" cy="2194560"/>
        </p:xfrm>
        <a:graphic>
          <a:graphicData uri="http://schemas.openxmlformats.org/drawingml/2006/table">
            <a:tbl>
              <a:tblPr firstRow="1" bandRow="1">
                <a:tableStyleId>{5C22544A-7EE6-4342-B048-85BDC9FD1C3A}</a:tableStyleId>
              </a:tblPr>
              <a:tblGrid>
                <a:gridCol w="731520"/>
                <a:gridCol w="1463040"/>
                <a:gridCol w="2103120"/>
              </a:tblGrid>
              <a:tr h="365760">
                <a:tc>
                  <a:txBody>
                    <a:bodyPr/>
                    <a:lstStyle/>
                    <a:p>
                      <a:r>
                        <a:rPr sz="1200" b="1">
                          <a:solidFill>
                            <a:srgbClr val="FFFFFF"/>
                          </a:solidFill>
                        </a:rPr>
                        <a:t>z</a:t>
                      </a:r>
                      <a:endParaRPr sz="1200" b="1">
                        <a:solidFill>
                          <a:srgbClr val="FFFFFF"/>
                        </a:solidFill>
                      </a:endParaRPr>
                    </a:p>
                  </a:txBody>
                  <a:tcPr marL="54864" marR="54864" marT="18288" marB="18288" anchor="ctr">
                    <a:solidFill>
                      <a:srgbClr val="0B3D91"/>
                    </a:solidFill>
                  </a:tcPr>
                </a:tc>
                <a:tc>
                  <a:txBody>
                    <a:bodyPr/>
                    <a:lstStyle/>
                    <a:p>
                      <a:r>
                        <a:rPr sz="1200" b="1">
                          <a:solidFill>
                            <a:srgbClr val="FFFFFF"/>
                          </a:solidFill>
                        </a:rPr>
                        <a:t>PM2.5 (µg/m³)</a:t>
                      </a:r>
                      <a:endParaRPr sz="1200" b="1">
                        <a:solidFill>
                          <a:srgbClr val="FFFFFF"/>
                        </a:solidFill>
                      </a:endParaRPr>
                    </a:p>
                  </a:txBody>
                  <a:tcPr marL="54864" marR="54864" marT="18288" marB="18288" anchor="ctr">
                    <a:solidFill>
                      <a:srgbClr val="0B3D91"/>
                    </a:solidFill>
                  </a:tcPr>
                </a:tc>
                <a:tc>
                  <a:txBody>
                    <a:bodyPr/>
                    <a:lstStyle/>
                    <a:p>
                      <a:r>
                        <a:rPr sz="1200" b="1">
                          <a:solidFill>
                            <a:srgbClr val="FFFFFF"/>
                          </a:solidFill>
                        </a:rPr>
                        <a:t>AQI</a:t>
                      </a:r>
                      <a:endParaRPr sz="1200" b="1">
                        <a:solidFill>
                          <a:srgbClr val="FFFFFF"/>
                        </a:solidFill>
                      </a:endParaRPr>
                    </a:p>
                  </a:txBody>
                  <a:tcPr marL="54864" marR="54864" marT="18288" marB="18288" anchor="ctr">
                    <a:solidFill>
                      <a:srgbClr val="0B3D91"/>
                    </a:solidFill>
                  </a:tcPr>
                </a:tc>
              </a:tr>
              <a:tr h="365760">
                <a:tc>
                  <a:txBody>
                    <a:bodyPr/>
                    <a:lstStyle/>
                    <a:p>
                      <a:r>
                        <a:rPr sz="1200" b="0">
                          <a:solidFill>
                            <a:srgbClr val="222222"/>
                          </a:solidFill>
                        </a:rPr>
                        <a:t>-1</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4.7</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Good</a:t>
                      </a:r>
                      <a:endParaRPr sz="1200" b="0">
                        <a:solidFill>
                          <a:srgbClr val="222222"/>
                        </a:solidFill>
                      </a:endParaRPr>
                    </a:p>
                  </a:txBody>
                  <a:tcPr marL="54864" marR="54864" marT="18288" marB="18288" anchor="ctr">
                    <a:solidFill>
                      <a:srgbClr val="FFFFFF"/>
                    </a:solidFill>
                  </a:tcPr>
                </a:tc>
              </a:tr>
              <a:tr h="365760">
                <a:tc>
                  <a:txBody>
                    <a:bodyPr/>
                    <a:lstStyle/>
                    <a:p>
                      <a:r>
                        <a:rPr sz="1200" b="0">
                          <a:solidFill>
                            <a:srgbClr val="222222"/>
                          </a:solidFill>
                        </a:rPr>
                        <a:t>0</a:t>
                      </a:r>
                      <a:endParaRPr sz="1200" b="0">
                        <a:solidFill>
                          <a:srgbClr val="222222"/>
                        </a:solidFill>
                      </a:endParaRPr>
                    </a:p>
                  </a:txBody>
                  <a:tcPr marL="54864" marR="54864" marT="18288" marB="18288" anchor="ctr">
                    <a:solidFill>
                      <a:srgbClr val="EEF2FA"/>
                    </a:solidFill>
                  </a:tcPr>
                </a:tc>
                <a:tc>
                  <a:txBody>
                    <a:bodyPr/>
                    <a:lstStyle/>
                    <a:p>
                      <a:r>
                        <a:rPr sz="1200" b="0">
                          <a:solidFill>
                            <a:srgbClr val="222222"/>
                          </a:solidFill>
                        </a:rPr>
                        <a:t>32.5</a:t>
                      </a:r>
                      <a:endParaRPr sz="1200" b="0">
                        <a:solidFill>
                          <a:srgbClr val="222222"/>
                        </a:solidFill>
                      </a:endParaRPr>
                    </a:p>
                  </a:txBody>
                  <a:tcPr marL="54864" marR="54864" marT="18288" marB="18288" anchor="ctr">
                    <a:solidFill>
                      <a:srgbClr val="EEF2FA"/>
                    </a:solidFill>
                  </a:tcPr>
                </a:tc>
                <a:tc>
                  <a:txBody>
                    <a:bodyPr/>
                    <a:lstStyle/>
                    <a:p>
                      <a:r>
                        <a:rPr sz="1200" b="0">
                          <a:solidFill>
                            <a:srgbClr val="222222"/>
                          </a:solidFill>
                        </a:rPr>
                        <a:t>Moderate</a:t>
                      </a:r>
                      <a:endParaRPr sz="1200" b="0">
                        <a:solidFill>
                          <a:srgbClr val="222222"/>
                        </a:solidFill>
                      </a:endParaRPr>
                    </a:p>
                  </a:txBody>
                  <a:tcPr marL="54864" marR="54864" marT="18288" marB="18288" anchor="ctr">
                    <a:solidFill>
                      <a:srgbClr val="EEF2FA"/>
                    </a:solidFill>
                  </a:tcPr>
                </a:tc>
              </a:tr>
              <a:tr h="365760">
                <a:tc>
                  <a:txBody>
                    <a:bodyPr/>
                    <a:lstStyle/>
                    <a:p>
                      <a:r>
                        <a:rPr sz="1200" b="0">
                          <a:solidFill>
                            <a:srgbClr val="222222"/>
                          </a:solidFill>
                        </a:rPr>
                        <a:t>+1</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60.4</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Unhealthy</a:t>
                      </a:r>
                      <a:endParaRPr sz="1200" b="0">
                        <a:solidFill>
                          <a:srgbClr val="222222"/>
                        </a:solidFill>
                      </a:endParaRPr>
                    </a:p>
                  </a:txBody>
                  <a:tcPr marL="54864" marR="54864" marT="18288" marB="18288" anchor="ctr">
                    <a:solidFill>
                      <a:srgbClr val="FFFFFF"/>
                    </a:solidFill>
                  </a:tcPr>
                </a:tc>
              </a:tr>
              <a:tr h="365760">
                <a:tc>
                  <a:txBody>
                    <a:bodyPr/>
                    <a:lstStyle/>
                    <a:p>
                      <a:r>
                        <a:rPr sz="1200" b="0">
                          <a:solidFill>
                            <a:srgbClr val="222222"/>
                          </a:solidFill>
                        </a:rPr>
                        <a:t>+3</a:t>
                      </a:r>
                      <a:endParaRPr sz="1200" b="0">
                        <a:solidFill>
                          <a:srgbClr val="222222"/>
                        </a:solidFill>
                      </a:endParaRPr>
                    </a:p>
                  </a:txBody>
                  <a:tcPr marL="54864" marR="54864" marT="18288" marB="18288" anchor="ctr">
                    <a:solidFill>
                      <a:srgbClr val="EEF2FA"/>
                    </a:solidFill>
                  </a:tcPr>
                </a:tc>
                <a:tc>
                  <a:txBody>
                    <a:bodyPr/>
                    <a:lstStyle/>
                    <a:p>
                      <a:r>
                        <a:rPr sz="1200" b="0">
                          <a:solidFill>
                            <a:srgbClr val="222222"/>
                          </a:solidFill>
                        </a:rPr>
                        <a:t>116.1</a:t>
                      </a:r>
                      <a:endParaRPr sz="1200" b="0">
                        <a:solidFill>
                          <a:srgbClr val="222222"/>
                        </a:solidFill>
                      </a:endParaRPr>
                    </a:p>
                  </a:txBody>
                  <a:tcPr marL="54864" marR="54864" marT="18288" marB="18288" anchor="ctr">
                    <a:solidFill>
                      <a:srgbClr val="EEF2FA"/>
                    </a:solidFill>
                  </a:tcPr>
                </a:tc>
                <a:tc>
                  <a:txBody>
                    <a:bodyPr/>
                    <a:lstStyle/>
                    <a:p>
                      <a:r>
                        <a:rPr sz="1200" b="0">
                          <a:solidFill>
                            <a:srgbClr val="222222"/>
                          </a:solidFill>
                        </a:rPr>
                        <a:t>Unhealthy</a:t>
                      </a:r>
                      <a:endParaRPr sz="1200" b="0">
                        <a:solidFill>
                          <a:srgbClr val="222222"/>
                        </a:solidFill>
                      </a:endParaRPr>
                    </a:p>
                  </a:txBody>
                  <a:tcPr marL="54864" marR="54864" marT="18288" marB="18288" anchor="ctr">
                    <a:solidFill>
                      <a:srgbClr val="EEF2FA"/>
                    </a:solidFill>
                  </a:tcPr>
                </a:tc>
              </a:tr>
              <a:tr h="365760">
                <a:tc>
                  <a:txBody>
                    <a:bodyPr/>
                    <a:lstStyle/>
                    <a:p>
                      <a:r>
                        <a:rPr sz="1200" b="0">
                          <a:solidFill>
                            <a:srgbClr val="222222"/>
                          </a:solidFill>
                        </a:rPr>
                        <a:t>+5</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171.8</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Very Unhealthy</a:t>
                      </a:r>
                      <a:endParaRPr sz="1200" b="0">
                        <a:solidFill>
                          <a:srgbClr val="222222"/>
                        </a:solidFill>
                      </a:endParaRPr>
                    </a:p>
                  </a:txBody>
                  <a:tcPr marL="54864" marR="54864" marT="18288" marB="18288" anchor="ctr">
                    <a:solidFill>
                      <a:srgbClr val="FFFFFF"/>
                    </a:solidFill>
                  </a:tcPr>
                </a:tc>
              </a:tr>
            </a:tbl>
          </a:graphicData>
        </a:graphic>
      </p:graphicFrame>
      <p:sp>
        <p:nvSpPr>
          <p:cNvPr id="5" name="TextBox 4"/>
          <p:cNvSpPr txBox="1"/>
          <p:nvPr/>
        </p:nvSpPr>
        <p:spPr>
          <a:xfrm>
            <a:off x="685800" y="4160520"/>
            <a:ext cx="10789920" cy="1645920"/>
          </a:xfrm>
          <a:prstGeom prst="rect">
            <a:avLst/>
          </a:prstGeom>
          <a:noFill/>
        </p:spPr>
        <p:txBody>
          <a:bodyPr wrap="square" lIns="45720" tIns="27432" rIns="45720" bIns="27432" anchor="t">
            <a:spAutoFit/>
          </a:bodyPr>
          <a:lstStyle/>
          <a:p>
            <a:pPr algn="l">
              <a:spcAft>
                <a:spcPts val="600"/>
              </a:spcAft>
            </a:pPr>
            <a:r>
              <a:rPr sz="1500" b="1" i="0">
                <a:solidFill>
                  <a:srgbClr val="0B3D91"/>
                </a:solidFill>
              </a:rPr>
              <a:t>z = (x − μ) / σ   with   μ = 32.53 µg/m³,  σ = 27.86 µg/m³   ·   inverse:  x = z·σ + μ</a:t>
            </a:r>
            <a:endParaRPr sz="1500" b="1" i="0">
              <a:solidFill>
                <a:srgbClr val="0B3D91"/>
              </a:solidFill>
            </a:endParaRPr>
          </a:p>
          <a:p>
            <a:pPr algn="l">
              <a:spcAft>
                <a:spcPts val="600"/>
              </a:spcAft>
            </a:pPr>
            <a:r>
              <a:rPr sz="1300" b="0" i="0">
                <a:solidFill>
                  <a:srgbClr val="222222"/>
                </a:solidFill>
              </a:rPr>
              <a:t>• Shape and ranking are unchanged: Z only re-centres and re-scales, so KNN, SVR and Ridge see a unit-scale target.</a:t>
            </a:r>
            <a:endParaRPr sz="1300" b="0" i="0">
              <a:solidFill>
                <a:srgbClr val="222222"/>
              </a:solidFill>
            </a:endParaRPr>
          </a:p>
          <a:p>
            <a:pPr algn="l">
              <a:spcAft>
                <a:spcPts val="600"/>
              </a:spcAft>
            </a:pPr>
            <a:r>
              <a:rPr sz="1300" b="0" i="0">
                <a:solidFill>
                  <a:srgbClr val="222222"/>
                </a:solidFill>
              </a:rPr>
              <a:t>• AQI thresholds in z-units: USG starts at z = +0.11, Unhealthy at +0.82, Very Unhealthy at +3.34.</a:t>
            </a:r>
            <a:endParaRPr sz="1300" b="0" i="0">
              <a:solidFill>
                <a:srgbClr val="222222"/>
              </a:solidFill>
            </a:endParaRPr>
          </a:p>
          <a:p>
            <a:pPr algn="l">
              <a:spcAft>
                <a:spcPts val="600"/>
              </a:spcAft>
            </a:pPr>
            <a:r>
              <a:rPr sz="1300" b="0" i="0">
                <a:solidFill>
                  <a:srgbClr val="222222"/>
                </a:solidFill>
              </a:rPr>
              <a:t>• Negative z is bounded (PM2.5 ≥ 0, so z ≥ −1.17); large positive z flags genuinely bad hours.</a:t>
            </a:r>
            <a:endParaRPr sz="1300" b="0" i="0">
              <a:solidFill>
                <a:srgbClr val="22222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5800" y="685800"/>
            <a:ext cx="9052560" cy="777240"/>
          </a:xfrm>
        </p:spPr>
        <p:txBody>
          <a:bodyPr anchor="ctr"/>
          <a:lstStyle/>
          <a:p>
            <a:r>
              <a:rPr sz="3000"/>
              <a:t>Temperature down, humidity up, PM2.5 up</a:t>
            </a:r>
            <a:endParaRPr sz="3000"/>
          </a:p>
        </p:txBody>
      </p:sp>
      <p:pic>
        <p:nvPicPr>
          <p:cNvPr id="3" name="Picture 2" descr="eda_correlation.png"/>
          <p:cNvPicPr>
            <a:picLocks noChangeAspect="1"/>
          </p:cNvPicPr>
          <p:nvPr/>
        </p:nvPicPr>
        <p:blipFill>
          <a:blip r:embed="rId1"/>
          <a:stretch>
            <a:fillRect/>
          </a:stretch>
        </p:blipFill>
        <p:spPr>
          <a:xfrm>
            <a:off x="548640" y="1867092"/>
            <a:ext cx="11064240" cy="2895214"/>
          </a:xfrm>
          <a:prstGeom prst="rect">
            <a:avLst/>
          </a:prstGeom>
        </p:spPr>
      </p:pic>
      <p:sp>
        <p:nvSpPr>
          <p:cNvPr id="4" name="Rounded Rectangle 3"/>
          <p:cNvSpPr/>
          <p:nvPr/>
        </p:nvSpPr>
        <p:spPr>
          <a:xfrm>
            <a:off x="685800" y="4892040"/>
            <a:ext cx="3474720" cy="96012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919472"/>
            <a:ext cx="3291840" cy="914400"/>
          </a:xfrm>
          <a:prstGeom prst="rect">
            <a:avLst/>
          </a:prstGeom>
          <a:noFill/>
        </p:spPr>
        <p:txBody>
          <a:bodyPr wrap="square" lIns="45720" tIns="27432" rIns="45720" bIns="27432" anchor="t">
            <a:spAutoFit/>
          </a:bodyPr>
          <a:lstStyle/>
          <a:p>
            <a:pPr algn="l">
              <a:spcAft>
                <a:spcPts val="200"/>
              </a:spcAft>
            </a:pPr>
            <a:r>
              <a:rPr sz="1300" b="1" i="0">
                <a:solidFill>
                  <a:srgbClr val="0B3D91"/>
                </a:solidFill>
              </a:rPr>
              <a:t>Temperature: −0.07 to −0.56</a:t>
            </a:r>
            <a:endParaRPr sz="1300" b="1" i="0">
              <a:solidFill>
                <a:srgbClr val="0B3D91"/>
              </a:solidFill>
            </a:endParaRPr>
          </a:p>
          <a:p>
            <a:pPr algn="l">
              <a:spcAft>
                <a:spcPts val="600"/>
              </a:spcAft>
            </a:pPr>
            <a:r>
              <a:rPr sz="1150" b="0" i="0">
                <a:solidFill>
                  <a:srgbClr val="222222"/>
                </a:solidFill>
              </a:rPr>
              <a:t>Warmer hours → deeper mixing layer → lower PM2.5</a:t>
            </a:r>
            <a:endParaRPr sz="1150" b="0" i="0">
              <a:solidFill>
                <a:srgbClr val="222222"/>
              </a:solidFill>
            </a:endParaRPr>
          </a:p>
        </p:txBody>
      </p:sp>
      <p:sp>
        <p:nvSpPr>
          <p:cNvPr id="6" name="Rounded Rectangle 5"/>
          <p:cNvSpPr/>
          <p:nvPr/>
        </p:nvSpPr>
        <p:spPr>
          <a:xfrm>
            <a:off x="4343400" y="4892040"/>
            <a:ext cx="3474720" cy="96012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34840" y="4919472"/>
            <a:ext cx="3291840" cy="914400"/>
          </a:xfrm>
          <a:prstGeom prst="rect">
            <a:avLst/>
          </a:prstGeom>
          <a:noFill/>
        </p:spPr>
        <p:txBody>
          <a:bodyPr wrap="square" lIns="45720" tIns="27432" rIns="45720" bIns="27432" anchor="t">
            <a:spAutoFit/>
          </a:bodyPr>
          <a:lstStyle/>
          <a:p>
            <a:pPr algn="l">
              <a:spcAft>
                <a:spcPts val="200"/>
              </a:spcAft>
            </a:pPr>
            <a:r>
              <a:rPr sz="1300" b="1" i="0">
                <a:solidFill>
                  <a:srgbClr val="0B3D91"/>
                </a:solidFill>
              </a:rPr>
              <a:t>Humidity: +0.04 to +0.48</a:t>
            </a:r>
            <a:endParaRPr sz="1300" b="1" i="0">
              <a:solidFill>
                <a:srgbClr val="0B3D91"/>
              </a:solidFill>
            </a:endParaRPr>
          </a:p>
          <a:p>
            <a:pPr algn="l">
              <a:spcAft>
                <a:spcPts val="600"/>
              </a:spcAft>
            </a:pPr>
            <a:r>
              <a:rPr sz="1150" b="0" i="0">
                <a:solidFill>
                  <a:srgbClr val="222222"/>
                </a:solidFill>
              </a:rPr>
              <a:t>Humid nights → stable air + particle growth → higher PM2.5</a:t>
            </a:r>
            <a:endParaRPr sz="1150" b="0" i="0">
              <a:solidFill>
                <a:srgbClr val="222222"/>
              </a:solidFill>
            </a:endParaRPr>
          </a:p>
        </p:txBody>
      </p:sp>
      <p:sp>
        <p:nvSpPr>
          <p:cNvPr id="8" name="Rounded Rectangle 7"/>
          <p:cNvSpPr/>
          <p:nvPr/>
        </p:nvSpPr>
        <p:spPr>
          <a:xfrm>
            <a:off x="8001000" y="4892040"/>
            <a:ext cx="3474720" cy="96012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4919472"/>
            <a:ext cx="3291840" cy="914400"/>
          </a:xfrm>
          <a:prstGeom prst="rect">
            <a:avLst/>
          </a:prstGeom>
          <a:noFill/>
        </p:spPr>
        <p:txBody>
          <a:bodyPr wrap="square" lIns="45720" tIns="27432" rIns="45720" bIns="27432" anchor="t">
            <a:spAutoFit/>
          </a:bodyPr>
          <a:lstStyle/>
          <a:p>
            <a:pPr algn="l">
              <a:spcAft>
                <a:spcPts val="200"/>
              </a:spcAft>
            </a:pPr>
            <a:r>
              <a:rPr sz="1300" b="1" i="0">
                <a:solidFill>
                  <a:srgbClr val="0B3D91"/>
                </a:solidFill>
              </a:rPr>
              <a:t>PM10: ρ ≈ 0.98 with PM2.5</a:t>
            </a:r>
            <a:endParaRPr sz="1300" b="1" i="0">
              <a:solidFill>
                <a:srgbClr val="0B3D91"/>
              </a:solidFill>
            </a:endParaRPr>
          </a:p>
          <a:p>
            <a:pPr algn="l">
              <a:spcAft>
                <a:spcPts val="600"/>
              </a:spcAft>
            </a:pPr>
            <a:r>
              <a:rPr sz="1150" b="0" i="0">
                <a:solidFill>
                  <a:srgbClr val="222222"/>
                </a:solidFill>
              </a:rPr>
              <a:t>Measured at the same moment, so excluded as a predictor (leakage)</a:t>
            </a:r>
            <a:endParaRPr sz="1150" b="0" i="0">
              <a:solidFill>
                <a:srgbClr val="22222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Modelling &amp; results</a:t>
            </a:r>
          </a:p>
        </p:txBody>
      </p:sp>
      <p:sp>
        <p:nvSpPr>
          <p:cNvPr id="3" name="Text Placeholder 2"/>
          <p:cNvSpPr>
            <a:spLocks noGrp="1"/>
          </p:cNvSpPr>
          <p:nvPr>
            <p:ph type="body" idx="1"/>
          </p:nvPr>
        </p:nvSpPr>
        <p:spPr/>
        <p:txBody>
          <a:bodyPr/>
          <a:lstStyle/>
          <a:p>
            <a:r>
              <a:t>Feature selection · validation design · 5 models + 2 ensembles · metrics · August 2026 forecasts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5800" y="685800"/>
            <a:ext cx="9052560" cy="777240"/>
          </a:xfrm>
        </p:spPr>
        <p:txBody>
          <a:bodyPr anchor="ctr"/>
          <a:lstStyle/>
          <a:p>
            <a:r>
              <a:rPr sz="3000"/>
              <a:t>Features and an honest validation design</a:t>
            </a:r>
            <a:endParaRPr sz="3000"/>
          </a:p>
        </p:txBody>
      </p:sp>
      <p:sp>
        <p:nvSpPr>
          <p:cNvPr id="3" name="Rounded Rectangle 2"/>
          <p:cNvSpPr/>
          <p:nvPr/>
        </p:nvSpPr>
        <p:spPr>
          <a:xfrm>
            <a:off x="685800" y="1920240"/>
            <a:ext cx="5257800" cy="388620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011680"/>
            <a:ext cx="4937760" cy="3749039"/>
          </a:xfrm>
          <a:prstGeom prst="rect">
            <a:avLst/>
          </a:prstGeom>
          <a:noFill/>
        </p:spPr>
        <p:txBody>
          <a:bodyPr wrap="square" lIns="45720" tIns="27432" rIns="45720" bIns="27432" anchor="t">
            <a:spAutoFit/>
          </a:bodyPr>
          <a:lstStyle/>
          <a:p>
            <a:pPr algn="l">
              <a:spcAft>
                <a:spcPts val="600"/>
              </a:spcAft>
            </a:pPr>
            <a:r>
              <a:rPr sz="1600" b="1" i="0">
                <a:solidFill>
                  <a:srgbClr val="0B3D91"/>
                </a:solidFill>
              </a:rPr>
              <a:t>Inputs kept</a:t>
            </a:r>
            <a:endParaRPr sz="1600" b="1" i="0">
              <a:solidFill>
                <a:srgbClr val="0B3D91"/>
              </a:solidFill>
            </a:endParaRPr>
          </a:p>
          <a:p>
            <a:pPr algn="l">
              <a:spcAft>
                <a:spcPts val="600"/>
              </a:spcAft>
            </a:pPr>
            <a:r>
              <a:rPr sz="1300" b="0" i="0">
                <a:solidFill>
                  <a:srgbClr val="222222"/>
                </a:solidFill>
              </a:rPr>
              <a:t>• temp, humidity (physics, §EDA)</a:t>
            </a:r>
            <a:endParaRPr sz="1300" b="0" i="0">
              <a:solidFill>
                <a:srgbClr val="222222"/>
              </a:solidFill>
            </a:endParaRPr>
          </a:p>
          <a:p>
            <a:pPr algn="l">
              <a:spcAft>
                <a:spcPts val="600"/>
              </a:spcAft>
            </a:pPr>
            <a:r>
              <a:rPr sz="1300" b="0" i="0">
                <a:solidFill>
                  <a:srgbClr val="222222"/>
                </a:solidFill>
              </a:rPr>
              <a:t>• hour of day as sin/cos (diurnal cycle)</a:t>
            </a:r>
            <a:endParaRPr sz="1300" b="0" i="0">
              <a:solidFill>
                <a:srgbClr val="222222"/>
              </a:solidFill>
            </a:endParaRPr>
          </a:p>
          <a:p>
            <a:pPr algn="l">
              <a:spcAft>
                <a:spcPts val="600"/>
              </a:spcAft>
            </a:pPr>
            <a:r>
              <a:rPr sz="1300" b="0" i="0">
                <a:solidFill>
                  <a:srgbClr val="222222"/>
                </a:solidFill>
              </a:rPr>
              <a:t>• month (level shift between windows)</a:t>
            </a:r>
            <a:endParaRPr sz="1300" b="0" i="0">
              <a:solidFill>
                <a:srgbClr val="222222"/>
              </a:solidFill>
            </a:endParaRPr>
          </a:p>
          <a:p>
            <a:pPr algn="l">
              <a:spcAft>
                <a:spcPts val="600"/>
              </a:spcAft>
            </a:pPr>
            <a:r>
              <a:rPr sz="1300" b="0" i="0">
                <a:solidFill>
                  <a:srgbClr val="222222"/>
                </a:solidFill>
              </a:rPr>
              <a:t>• latitude, longitude, network type</a:t>
            </a:r>
            <a:endParaRPr sz="1300" b="0" i="0">
              <a:solidFill>
                <a:srgbClr val="222222"/>
              </a:solidFill>
            </a:endParaRPr>
          </a:p>
          <a:p>
            <a:pPr algn="l">
              <a:spcAft>
                <a:spcPts val="600"/>
              </a:spcAft>
            </a:pPr>
            <a:r>
              <a:rPr sz="1300" b="0" i="0">
                <a:solidFill>
                  <a:srgbClr val="222222"/>
                </a:solidFill>
              </a:rPr>
              <a:t>• sensor ID → target-encoded (each site's baseline)</a:t>
            </a:r>
            <a:endParaRPr sz="1300" b="0" i="0">
              <a:solidFill>
                <a:srgbClr val="222222"/>
              </a:solidFill>
            </a:endParaRPr>
          </a:p>
          <a:p>
            <a:pPr algn="l">
              <a:spcAft>
                <a:spcPts val="600"/>
              </a:spcAft>
            </a:pPr>
            <a:r>
              <a:rPr sz="1600" b="1" i="0">
                <a:solidFill>
                  <a:srgbClr val="D7014D"/>
                </a:solidFill>
              </a:rPr>
              <a:t>Dropped</a:t>
            </a:r>
            <a:endParaRPr sz="1600" b="1" i="0">
              <a:solidFill>
                <a:srgbClr val="D7014D"/>
              </a:solidFill>
            </a:endParaRPr>
          </a:p>
          <a:p>
            <a:pPr algn="l">
              <a:spcAft>
                <a:spcPts val="600"/>
              </a:spcAft>
            </a:pPr>
            <a:r>
              <a:rPr sz="1300" b="0" i="0">
                <a:solidFill>
                  <a:srgbClr val="222222"/>
                </a:solidFill>
              </a:rPr>
              <a:t>• PM10 (leaks the target) · site_id (51 % empty) · frequency (constant) · day-of-week &amp; dry-season flag (overfit on 8 days)</a:t>
            </a:r>
            <a:endParaRPr sz="1300" b="0" i="0">
              <a:solidFill>
                <a:srgbClr val="222222"/>
              </a:solidFill>
            </a:endParaRPr>
          </a:p>
        </p:txBody>
      </p:sp>
      <p:sp>
        <p:nvSpPr>
          <p:cNvPr id="5" name="Rounded Rectangle 4"/>
          <p:cNvSpPr/>
          <p:nvPr/>
        </p:nvSpPr>
        <p:spPr>
          <a:xfrm>
            <a:off x="6263640" y="1920240"/>
            <a:ext cx="5257800" cy="388620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46520" y="2011680"/>
            <a:ext cx="4937760" cy="3749039"/>
          </a:xfrm>
          <a:prstGeom prst="rect">
            <a:avLst/>
          </a:prstGeom>
          <a:noFill/>
        </p:spPr>
        <p:txBody>
          <a:bodyPr wrap="square" lIns="45720" tIns="27432" rIns="45720" bIns="27432" anchor="t">
            <a:spAutoFit/>
          </a:bodyPr>
          <a:lstStyle/>
          <a:p>
            <a:pPr algn="l">
              <a:spcAft>
                <a:spcPts val="600"/>
              </a:spcAft>
            </a:pPr>
            <a:r>
              <a:rPr sz="1600" b="1" i="0">
                <a:solidFill>
                  <a:srgbClr val="0B3D91"/>
                </a:solidFill>
              </a:rPr>
              <a:t>Validation</a:t>
            </a:r>
            <a:endParaRPr sz="1600" b="1" i="0">
              <a:solidFill>
                <a:srgbClr val="0B3D91"/>
              </a:solidFill>
            </a:endParaRPr>
          </a:p>
          <a:p>
            <a:pPr algn="l">
              <a:spcAft>
                <a:spcPts val="600"/>
              </a:spcAft>
            </a:pPr>
            <a:r>
              <a:rPr sz="1300" b="0" i="0">
                <a:solidFill>
                  <a:srgbClr val="222222"/>
                </a:solidFill>
              </a:rPr>
              <a:t>• Train = first day of each window (1 Jan, 1 Apr, 1 Jun): 6,126 hours</a:t>
            </a:r>
            <a:endParaRPr sz="1300" b="0" i="0">
              <a:solidFill>
                <a:srgbClr val="222222"/>
              </a:solidFill>
            </a:endParaRPr>
          </a:p>
          <a:p>
            <a:pPr algn="l">
              <a:spcAft>
                <a:spcPts val="600"/>
              </a:spcAft>
            </a:pPr>
            <a:r>
              <a:rPr sz="1300" b="0" i="0">
                <a:solidFill>
                  <a:srgbClr val="222222"/>
                </a:solidFill>
              </a:rPr>
              <a:t>• Test = later days (2–3 Jan, 2 Apr, 2–3 Jun): 8,146 hours, all in the future of their training day</a:t>
            </a:r>
            <a:endParaRPr sz="1300" b="0" i="0">
              <a:solidFill>
                <a:srgbClr val="222222"/>
              </a:solidFill>
            </a:endParaRPr>
          </a:p>
          <a:p>
            <a:pPr algn="l">
              <a:spcAft>
                <a:spcPts val="600"/>
              </a:spcAft>
            </a:pPr>
            <a:r>
              <a:rPr sz="1300" b="0" i="0">
                <a:solidFill>
                  <a:srgbClr val="222222"/>
                </a:solidFill>
              </a:rPr>
              <a:t>• Tuning: RandomizedSearchCV, GroupKFold over 6-hour blocks (no leakage between neighbouring hours)</a:t>
            </a:r>
            <a:endParaRPr sz="1300" b="0" i="0">
              <a:solidFill>
                <a:srgbClr val="222222"/>
              </a:solidFill>
            </a:endParaRPr>
          </a:p>
          <a:p>
            <a:pPr algn="l">
              <a:spcAft>
                <a:spcPts val="600"/>
              </a:spcAft>
            </a:pPr>
            <a:r>
              <a:rPr sz="1300" b="0" i="0">
                <a:solidFill>
                  <a:srgbClr val="222222"/>
                </a:solidFill>
              </a:rPr>
              <a:t>• Missing temp/RH handled inside the pipeline (median + missing-indicator), so API nulls never crash the model</a:t>
            </a:r>
            <a:endParaRPr sz="1300" b="0" i="0">
              <a:solidFill>
                <a:srgbClr val="222222"/>
              </a:solidFill>
            </a:endParaRPr>
          </a:p>
          <a:p>
            <a:pPr algn="l">
              <a:spcAft>
                <a:spcPts val="600"/>
              </a:spcAft>
            </a:pPr>
            <a:r>
              <a:rPr sz="1300" b="0" i="0">
                <a:solidFill>
                  <a:srgbClr val="D7014D"/>
                </a:solidFill>
              </a:rPr>
              <a:t>• Rejected: Jan+Apr → June gave R² ≤ 0 for every model (kept as a drift case study)</a:t>
            </a:r>
            <a:endParaRPr sz="1300" b="0" i="0">
              <a:solidFill>
                <a:srgbClr val="D7014D"/>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5800" y="685800"/>
            <a:ext cx="9052560" cy="777240"/>
          </a:xfrm>
        </p:spPr>
        <p:txBody>
          <a:bodyPr anchor="ctr"/>
          <a:lstStyle/>
          <a:p>
            <a:r>
              <a:rPr sz="3000"/>
              <a:t>Five models and two ensembles, each tuned</a:t>
            </a:r>
            <a:endParaRPr sz="3000"/>
          </a:p>
        </p:txBody>
      </p:sp>
      <p:graphicFrame>
        <p:nvGraphicFramePr>
          <p:cNvPr id="3" name="Table 2"/>
          <p:cNvGraphicFramePr>
            <a:graphicFrameLocks noGrp="1"/>
          </p:cNvGraphicFramePr>
          <p:nvPr/>
        </p:nvGraphicFramePr>
        <p:xfrm>
          <a:off x="685800" y="1920240"/>
          <a:ext cx="10789920" cy="3803904"/>
        </p:xfrm>
        <a:graphic>
          <a:graphicData uri="http://schemas.openxmlformats.org/drawingml/2006/table">
            <a:tbl>
              <a:tblPr firstRow="1" bandRow="1">
                <a:tableStyleId>{5C22544A-7EE6-4342-B048-85BDC9FD1C3A}</a:tableStyleId>
              </a:tblPr>
              <a:tblGrid>
                <a:gridCol w="2743200"/>
                <a:gridCol w="3840480"/>
                <a:gridCol w="3108960"/>
                <a:gridCol w="1097280"/>
              </a:tblGrid>
              <a:tr h="475488">
                <a:tc>
                  <a:txBody>
                    <a:bodyPr/>
                    <a:lstStyle/>
                    <a:p>
                      <a:r>
                        <a:rPr sz="1200" b="1">
                          <a:solidFill>
                            <a:srgbClr val="FFFFFF"/>
                          </a:solidFill>
                        </a:rPr>
                        <a:t>Model</a:t>
                      </a:r>
                      <a:endParaRPr sz="1200" b="1">
                        <a:solidFill>
                          <a:srgbClr val="FFFFFF"/>
                        </a:solidFill>
                      </a:endParaRPr>
                    </a:p>
                  </a:txBody>
                  <a:tcPr marL="54864" marR="54864" marT="18288" marB="18288" anchor="ctr">
                    <a:solidFill>
                      <a:srgbClr val="0B3D91"/>
                    </a:solidFill>
                  </a:tcPr>
                </a:tc>
                <a:tc>
                  <a:txBody>
                    <a:bodyPr/>
                    <a:lstStyle/>
                    <a:p>
                      <a:r>
                        <a:rPr sz="1200" b="1">
                          <a:solidFill>
                            <a:srgbClr val="FFFFFF"/>
                          </a:solidFill>
                        </a:rPr>
                        <a:t>Hyperparameters tuned</a:t>
                      </a:r>
                      <a:endParaRPr sz="1200" b="1">
                        <a:solidFill>
                          <a:srgbClr val="FFFFFF"/>
                        </a:solidFill>
                      </a:endParaRPr>
                    </a:p>
                  </a:txBody>
                  <a:tcPr marL="54864" marR="54864" marT="18288" marB="18288" anchor="ctr">
                    <a:solidFill>
                      <a:srgbClr val="0B3D91"/>
                    </a:solidFill>
                  </a:tcPr>
                </a:tc>
                <a:tc>
                  <a:txBody>
                    <a:bodyPr/>
                    <a:lstStyle/>
                    <a:p>
                      <a:r>
                        <a:rPr sz="1200" b="1">
                          <a:solidFill>
                            <a:srgbClr val="FFFFFF"/>
                          </a:solidFill>
                        </a:rPr>
                        <a:t>Why they matter</a:t>
                      </a:r>
                      <a:endParaRPr sz="1200" b="1">
                        <a:solidFill>
                          <a:srgbClr val="FFFFFF"/>
                        </a:solidFill>
                      </a:endParaRPr>
                    </a:p>
                  </a:txBody>
                  <a:tcPr marL="54864" marR="54864" marT="18288" marB="18288" anchor="ctr">
                    <a:solidFill>
                      <a:srgbClr val="0B3D91"/>
                    </a:solidFill>
                  </a:tcPr>
                </a:tc>
                <a:tc>
                  <a:txBody>
                    <a:bodyPr/>
                    <a:lstStyle/>
                    <a:p>
                      <a:r>
                        <a:rPr sz="1200" b="1">
                          <a:solidFill>
                            <a:srgbClr val="FFFFFF"/>
                          </a:solidFill>
                        </a:rPr>
                        <a:t>CV RMSE (z)</a:t>
                      </a:r>
                      <a:endParaRPr sz="1200" b="1">
                        <a:solidFill>
                          <a:srgbClr val="FFFFFF"/>
                        </a:solidFill>
                      </a:endParaRPr>
                    </a:p>
                  </a:txBody>
                  <a:tcPr marL="54864" marR="54864" marT="18288" marB="18288" anchor="ctr">
                    <a:solidFill>
                      <a:srgbClr val="0B3D91"/>
                    </a:solidFill>
                  </a:tcPr>
                </a:tc>
              </a:tr>
              <a:tr h="475488">
                <a:tc>
                  <a:txBody>
                    <a:bodyPr/>
                    <a:lstStyle/>
                    <a:p>
                      <a:r>
                        <a:rPr sz="1200" b="0">
                          <a:solidFill>
                            <a:srgbClr val="222222"/>
                          </a:solidFill>
                        </a:rPr>
                        <a:t>Ridge</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alpha</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L2 shrinkage: over- vs under-fitting</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0.893</a:t>
                      </a:r>
                      <a:endParaRPr sz="1200" b="0">
                        <a:solidFill>
                          <a:srgbClr val="222222"/>
                        </a:solidFill>
                      </a:endParaRPr>
                    </a:p>
                  </a:txBody>
                  <a:tcPr marL="54864" marR="54864" marT="18288" marB="18288" anchor="ctr">
                    <a:solidFill>
                      <a:srgbClr val="FFFFFF"/>
                    </a:solidFill>
                  </a:tcPr>
                </a:tc>
              </a:tr>
              <a:tr h="475488">
                <a:tc>
                  <a:txBody>
                    <a:bodyPr/>
                    <a:lstStyle/>
                    <a:p>
                      <a:r>
                        <a:rPr sz="1200" b="0">
                          <a:solidFill>
                            <a:srgbClr val="222222"/>
                          </a:solidFill>
                        </a:rPr>
                        <a:t>KNN</a:t>
                      </a:r>
                      <a:endParaRPr sz="1200" b="0">
                        <a:solidFill>
                          <a:srgbClr val="222222"/>
                        </a:solidFill>
                      </a:endParaRPr>
                    </a:p>
                  </a:txBody>
                  <a:tcPr marL="54864" marR="54864" marT="18288" marB="18288" anchor="ctr">
                    <a:solidFill>
                      <a:srgbClr val="EEF2FA"/>
                    </a:solidFill>
                  </a:tcPr>
                </a:tc>
                <a:tc>
                  <a:txBody>
                    <a:bodyPr/>
                    <a:lstStyle/>
                    <a:p>
                      <a:r>
                        <a:rPr sz="1200" b="0">
                          <a:solidFill>
                            <a:srgbClr val="222222"/>
                          </a:solidFill>
                        </a:rPr>
                        <a:t>n_neighbors, weights, p</a:t>
                      </a:r>
                      <a:endParaRPr sz="1200" b="0">
                        <a:solidFill>
                          <a:srgbClr val="222222"/>
                        </a:solidFill>
                      </a:endParaRPr>
                    </a:p>
                  </a:txBody>
                  <a:tcPr marL="54864" marR="54864" marT="18288" marB="18288" anchor="ctr">
                    <a:solidFill>
                      <a:srgbClr val="EEF2FA"/>
                    </a:solidFill>
                  </a:tcPr>
                </a:tc>
                <a:tc>
                  <a:txBody>
                    <a:bodyPr/>
                    <a:lstStyle/>
                    <a:p>
                      <a:r>
                        <a:rPr sz="1200" b="0">
                          <a:solidFill>
                            <a:srgbClr val="222222"/>
                          </a:solidFill>
                        </a:rPr>
                        <a:t>small K = noisy, large K = over-smoothed</a:t>
                      </a:r>
                      <a:endParaRPr sz="1200" b="0">
                        <a:solidFill>
                          <a:srgbClr val="222222"/>
                        </a:solidFill>
                      </a:endParaRPr>
                    </a:p>
                  </a:txBody>
                  <a:tcPr marL="54864" marR="54864" marT="18288" marB="18288" anchor="ctr">
                    <a:solidFill>
                      <a:srgbClr val="EEF2FA"/>
                    </a:solidFill>
                  </a:tcPr>
                </a:tc>
                <a:tc>
                  <a:txBody>
                    <a:bodyPr/>
                    <a:lstStyle/>
                    <a:p>
                      <a:r>
                        <a:rPr sz="1200" b="0">
                          <a:solidFill>
                            <a:srgbClr val="222222"/>
                          </a:solidFill>
                        </a:rPr>
                        <a:t>0.843</a:t>
                      </a:r>
                      <a:endParaRPr sz="1200" b="0">
                        <a:solidFill>
                          <a:srgbClr val="222222"/>
                        </a:solidFill>
                      </a:endParaRPr>
                    </a:p>
                  </a:txBody>
                  <a:tcPr marL="54864" marR="54864" marT="18288" marB="18288" anchor="ctr">
                    <a:solidFill>
                      <a:srgbClr val="EEF2FA"/>
                    </a:solidFill>
                  </a:tcPr>
                </a:tc>
              </a:tr>
              <a:tr h="475488">
                <a:tc>
                  <a:txBody>
                    <a:bodyPr/>
                    <a:lstStyle/>
                    <a:p>
                      <a:r>
                        <a:rPr sz="1200" b="0">
                          <a:solidFill>
                            <a:srgbClr val="222222"/>
                          </a:solidFill>
                        </a:rPr>
                        <a:t>SVR (RBF)</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C, epsilon, gamma</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fit tightness, error tube, locality</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0.801</a:t>
                      </a:r>
                      <a:endParaRPr sz="1200" b="0">
                        <a:solidFill>
                          <a:srgbClr val="222222"/>
                        </a:solidFill>
                      </a:endParaRPr>
                    </a:p>
                  </a:txBody>
                  <a:tcPr marL="54864" marR="54864" marT="18288" marB="18288" anchor="ctr">
                    <a:solidFill>
                      <a:srgbClr val="FFFFFF"/>
                    </a:solidFill>
                  </a:tcPr>
                </a:tc>
              </a:tr>
              <a:tr h="475488">
                <a:tc>
                  <a:txBody>
                    <a:bodyPr/>
                    <a:lstStyle/>
                    <a:p>
                      <a:r>
                        <a:rPr sz="1200" b="0">
                          <a:solidFill>
                            <a:srgbClr val="222222"/>
                          </a:solidFill>
                        </a:rPr>
                        <a:t>Decision Tree</a:t>
                      </a:r>
                      <a:endParaRPr sz="1200" b="0">
                        <a:solidFill>
                          <a:srgbClr val="222222"/>
                        </a:solidFill>
                      </a:endParaRPr>
                    </a:p>
                  </a:txBody>
                  <a:tcPr marL="54864" marR="54864" marT="18288" marB="18288" anchor="ctr">
                    <a:solidFill>
                      <a:srgbClr val="EEF2FA"/>
                    </a:solidFill>
                  </a:tcPr>
                </a:tc>
                <a:tc>
                  <a:txBody>
                    <a:bodyPr/>
                    <a:lstStyle/>
                    <a:p>
                      <a:r>
                        <a:rPr sz="1200" b="0">
                          <a:solidFill>
                            <a:srgbClr val="222222"/>
                          </a:solidFill>
                        </a:rPr>
                        <a:t>max_depth, min_samples_leaf/split, max_features</a:t>
                      </a:r>
                      <a:endParaRPr sz="1200" b="0">
                        <a:solidFill>
                          <a:srgbClr val="222222"/>
                        </a:solidFill>
                      </a:endParaRPr>
                    </a:p>
                  </a:txBody>
                  <a:tcPr marL="54864" marR="54864" marT="18288" marB="18288" anchor="ctr">
                    <a:solidFill>
                      <a:srgbClr val="EEF2FA"/>
                    </a:solidFill>
                  </a:tcPr>
                </a:tc>
                <a:tc>
                  <a:txBody>
                    <a:bodyPr/>
                    <a:lstStyle/>
                    <a:p>
                      <a:r>
                        <a:rPr sz="1200" b="0">
                          <a:solidFill>
                            <a:srgbClr val="222222"/>
                          </a:solidFill>
                        </a:rPr>
                        <a:t>depth and leaf size control overfitting</a:t>
                      </a:r>
                      <a:endParaRPr sz="1200" b="0">
                        <a:solidFill>
                          <a:srgbClr val="222222"/>
                        </a:solidFill>
                      </a:endParaRPr>
                    </a:p>
                  </a:txBody>
                  <a:tcPr marL="54864" marR="54864" marT="18288" marB="18288" anchor="ctr">
                    <a:solidFill>
                      <a:srgbClr val="EEF2FA"/>
                    </a:solidFill>
                  </a:tcPr>
                </a:tc>
                <a:tc>
                  <a:txBody>
                    <a:bodyPr/>
                    <a:lstStyle/>
                    <a:p>
                      <a:r>
                        <a:rPr sz="1200" b="0">
                          <a:solidFill>
                            <a:srgbClr val="222222"/>
                          </a:solidFill>
                        </a:rPr>
                        <a:t>0.825</a:t>
                      </a:r>
                      <a:endParaRPr sz="1200" b="0">
                        <a:solidFill>
                          <a:srgbClr val="222222"/>
                        </a:solidFill>
                      </a:endParaRPr>
                    </a:p>
                  </a:txBody>
                  <a:tcPr marL="54864" marR="54864" marT="18288" marB="18288" anchor="ctr">
                    <a:solidFill>
                      <a:srgbClr val="EEF2FA"/>
                    </a:solidFill>
                  </a:tcPr>
                </a:tc>
              </a:tr>
              <a:tr h="475488">
                <a:tc>
                  <a:txBody>
                    <a:bodyPr/>
                    <a:lstStyle/>
                    <a:p>
                      <a:r>
                        <a:rPr sz="1200" b="0">
                          <a:solidFill>
                            <a:srgbClr val="222222"/>
                          </a:solidFill>
                        </a:rPr>
                        <a:t>Random Forest (bagging)</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n_estimators, max_depth, max_features, min_samples_leaf</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more trees = stability; fewer features = diversity</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0.732</a:t>
                      </a:r>
                      <a:endParaRPr sz="1200" b="0">
                        <a:solidFill>
                          <a:srgbClr val="222222"/>
                        </a:solidFill>
                      </a:endParaRPr>
                    </a:p>
                  </a:txBody>
                  <a:tcPr marL="54864" marR="54864" marT="18288" marB="18288" anchor="ctr">
                    <a:solidFill>
                      <a:srgbClr val="FFFFFF"/>
                    </a:solidFill>
                  </a:tcPr>
                </a:tc>
              </a:tr>
              <a:tr h="475488">
                <a:tc>
                  <a:txBody>
                    <a:bodyPr/>
                    <a:lstStyle/>
                    <a:p>
                      <a:r>
                        <a:rPr sz="1200" b="0">
                          <a:solidFill>
                            <a:srgbClr val="222222"/>
                          </a:solidFill>
                        </a:rPr>
                        <a:t>HistGradientBoosting</a:t>
                      </a:r>
                      <a:endParaRPr sz="1200" b="0">
                        <a:solidFill>
                          <a:srgbClr val="222222"/>
                        </a:solidFill>
                      </a:endParaRPr>
                    </a:p>
                  </a:txBody>
                  <a:tcPr marL="54864" marR="54864" marT="18288" marB="18288" anchor="ctr">
                    <a:solidFill>
                      <a:srgbClr val="EEF2FA"/>
                    </a:solidFill>
                  </a:tcPr>
                </a:tc>
                <a:tc>
                  <a:txBody>
                    <a:bodyPr/>
                    <a:lstStyle/>
                    <a:p>
                      <a:r>
                        <a:rPr sz="1200" b="0">
                          <a:solidFill>
                            <a:srgbClr val="222222"/>
                          </a:solidFill>
                        </a:rPr>
                        <a:t>learning_rate, max_iter, max_leaf_nodes, depth, l2, leaf</a:t>
                      </a:r>
                      <a:endParaRPr sz="1200" b="0">
                        <a:solidFill>
                          <a:srgbClr val="222222"/>
                        </a:solidFill>
                      </a:endParaRPr>
                    </a:p>
                  </a:txBody>
                  <a:tcPr marL="54864" marR="54864" marT="18288" marB="18288" anchor="ctr">
                    <a:solidFill>
                      <a:srgbClr val="EEF2FA"/>
                    </a:solidFill>
                  </a:tcPr>
                </a:tc>
                <a:tc>
                  <a:txBody>
                    <a:bodyPr/>
                    <a:lstStyle/>
                    <a:p>
                      <a:r>
                        <a:rPr sz="1200" b="0">
                          <a:solidFill>
                            <a:srgbClr val="222222"/>
                          </a:solidFill>
                        </a:rPr>
                        <a:t>speed vs generalisation; leaf-value shrinkage</a:t>
                      </a:r>
                      <a:endParaRPr sz="1200" b="0">
                        <a:solidFill>
                          <a:srgbClr val="222222"/>
                        </a:solidFill>
                      </a:endParaRPr>
                    </a:p>
                  </a:txBody>
                  <a:tcPr marL="54864" marR="54864" marT="18288" marB="18288" anchor="ctr">
                    <a:solidFill>
                      <a:srgbClr val="EEF2FA"/>
                    </a:solidFill>
                  </a:tcPr>
                </a:tc>
                <a:tc>
                  <a:txBody>
                    <a:bodyPr/>
                    <a:lstStyle/>
                    <a:p>
                      <a:r>
                        <a:rPr sz="1200" b="0">
                          <a:solidFill>
                            <a:srgbClr val="222222"/>
                          </a:solidFill>
                        </a:rPr>
                        <a:t>0.738</a:t>
                      </a:r>
                      <a:endParaRPr sz="1200" b="0">
                        <a:solidFill>
                          <a:srgbClr val="222222"/>
                        </a:solidFill>
                      </a:endParaRPr>
                    </a:p>
                  </a:txBody>
                  <a:tcPr marL="54864" marR="54864" marT="18288" marB="18288" anchor="ctr">
                    <a:solidFill>
                      <a:srgbClr val="EEF2FA"/>
                    </a:solidFill>
                  </a:tcPr>
                </a:tc>
              </a:tr>
              <a:tr h="475488">
                <a:tc>
                  <a:txBody>
                    <a:bodyPr/>
                    <a:lstStyle/>
                    <a:p>
                      <a:r>
                        <a:rPr sz="1200" b="0">
                          <a:solidFill>
                            <a:srgbClr val="222222"/>
                          </a:solidFill>
                        </a:rPr>
                        <a:t>Stacking (KNN+RF+HGB → Ridge)</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meta-learner alpha</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how much to trust each base model</a:t>
                      </a:r>
                      <a:endParaRPr sz="1200" b="0">
                        <a:solidFill>
                          <a:srgbClr val="222222"/>
                        </a:solidFill>
                      </a:endParaRPr>
                    </a:p>
                  </a:txBody>
                  <a:tcPr marL="54864" marR="54864" marT="18288" marB="18288" anchor="ctr">
                    <a:solidFill>
                      <a:srgbClr val="FFFFFF"/>
                    </a:solidFill>
                  </a:tcPr>
                </a:tc>
                <a:tc>
                  <a:txBody>
                    <a:bodyPr/>
                    <a:lstStyle/>
                    <a:p>
                      <a:r>
                        <a:rPr sz="1200" b="0">
                          <a:solidFill>
                            <a:srgbClr val="222222"/>
                          </a:solidFill>
                        </a:rPr>
                        <a:t>0.720</a:t>
                      </a:r>
                      <a:endParaRPr sz="1200" b="0">
                        <a:solidFill>
                          <a:srgbClr val="222222"/>
                        </a:solidFill>
                      </a:endParaRPr>
                    </a:p>
                  </a:txBody>
                  <a:tcPr marL="54864" marR="54864" marT="18288" marB="18288"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5800" y="685800"/>
            <a:ext cx="9052560" cy="777240"/>
          </a:xfrm>
        </p:spPr>
        <p:txBody>
          <a:bodyPr anchor="ctr"/>
          <a:lstStyle/>
          <a:p>
            <a:r>
              <a:rPr sz="3000"/>
              <a:t>Random Forest wins: RMSE 21% below baseline</a:t>
            </a:r>
            <a:endParaRPr sz="3000"/>
          </a:p>
        </p:txBody>
      </p:sp>
      <p:graphicFrame>
        <p:nvGraphicFramePr>
          <p:cNvPr id="3" name="Chart 2"/>
          <p:cNvGraphicFramePr>
            <a:graphicFrameLocks noGrp="1"/>
          </p:cNvGraphicFramePr>
          <p:nvPr/>
        </p:nvGraphicFramePr>
        <p:xfrm>
          <a:off x="548640" y="1828800"/>
          <a:ext cx="6583680" cy="4023360"/>
        </p:xfrm>
        <a:graphic>
          <a:graphicData uri="http://schemas.openxmlformats.org/drawingml/2006/chart">
            <c:chart xmlns:c="http://schemas.openxmlformats.org/drawingml/2006/chart" xmlns:r="http://schemas.openxmlformats.org/officeDocument/2006/relationships" r:id="rId1"/>
          </a:graphicData>
        </a:graphic>
      </p:graphicFrame>
      <p:sp>
        <p:nvSpPr>
          <p:cNvPr id="4" name="Rounded Rectangle 3"/>
          <p:cNvSpPr/>
          <p:nvPr/>
        </p:nvSpPr>
        <p:spPr>
          <a:xfrm>
            <a:off x="7406640" y="1874519"/>
            <a:ext cx="1965960" cy="137160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9" y="1947672"/>
            <a:ext cx="1783080" cy="731520"/>
          </a:xfrm>
          <a:prstGeom prst="rect">
            <a:avLst/>
          </a:prstGeom>
          <a:noFill/>
        </p:spPr>
        <p:txBody>
          <a:bodyPr wrap="square" lIns="45720" tIns="27432" rIns="45720" bIns="27432" anchor="t">
            <a:spAutoFit/>
          </a:bodyPr>
          <a:lstStyle/>
          <a:p>
            <a:pPr algn="ctr">
              <a:spcAft>
                <a:spcPts val="600"/>
              </a:spcAft>
            </a:pPr>
            <a:r>
              <a:rPr sz="3400" b="1" i="0">
                <a:solidFill>
                  <a:srgbClr val="D7014D"/>
                </a:solidFill>
              </a:rPr>
              <a:t>20.8</a:t>
            </a:r>
            <a:endParaRPr sz="3400" b="1" i="0">
              <a:solidFill>
                <a:srgbClr val="D7014D"/>
              </a:solidFill>
            </a:endParaRPr>
          </a:p>
        </p:txBody>
      </p:sp>
      <p:sp>
        <p:nvSpPr>
          <p:cNvPr id="6" name="TextBox 5"/>
          <p:cNvSpPr txBox="1"/>
          <p:nvPr/>
        </p:nvSpPr>
        <p:spPr>
          <a:xfrm>
            <a:off x="7498079" y="2651760"/>
            <a:ext cx="1783080" cy="548640"/>
          </a:xfrm>
          <a:prstGeom prst="rect">
            <a:avLst/>
          </a:prstGeom>
          <a:noFill/>
        </p:spPr>
        <p:txBody>
          <a:bodyPr wrap="square" lIns="45720" tIns="27432" rIns="45720" bIns="27432" anchor="t">
            <a:spAutoFit/>
          </a:bodyPr>
          <a:lstStyle/>
          <a:p>
            <a:pPr algn="ctr">
              <a:spcAft>
                <a:spcPts val="600"/>
              </a:spcAft>
            </a:pPr>
            <a:r>
              <a:rPr sz="1200" b="0" i="0">
                <a:solidFill>
                  <a:srgbClr val="5A5A5A"/>
                </a:solidFill>
              </a:rPr>
              <a:t>RMSE µg/m³ (z: 0.747)</a:t>
            </a:r>
            <a:endParaRPr sz="1200" b="0" i="0">
              <a:solidFill>
                <a:srgbClr val="5A5A5A"/>
              </a:solidFill>
            </a:endParaRPr>
          </a:p>
        </p:txBody>
      </p:sp>
      <p:sp>
        <p:nvSpPr>
          <p:cNvPr id="7" name="Rounded Rectangle 6"/>
          <p:cNvSpPr/>
          <p:nvPr/>
        </p:nvSpPr>
        <p:spPr>
          <a:xfrm>
            <a:off x="9509759" y="1874519"/>
            <a:ext cx="1965960" cy="137160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199" y="1947672"/>
            <a:ext cx="1783080" cy="731520"/>
          </a:xfrm>
          <a:prstGeom prst="rect">
            <a:avLst/>
          </a:prstGeom>
          <a:noFill/>
        </p:spPr>
        <p:txBody>
          <a:bodyPr wrap="square" lIns="45720" tIns="27432" rIns="45720" bIns="27432" anchor="t">
            <a:spAutoFit/>
          </a:bodyPr>
          <a:lstStyle/>
          <a:p>
            <a:pPr algn="ctr">
              <a:spcAft>
                <a:spcPts val="600"/>
              </a:spcAft>
            </a:pPr>
            <a:r>
              <a:rPr sz="3400" b="1" i="0">
                <a:solidFill>
                  <a:srgbClr val="0B3D91"/>
                </a:solidFill>
              </a:rPr>
              <a:t>14.2</a:t>
            </a:r>
            <a:endParaRPr sz="3400" b="1" i="0">
              <a:solidFill>
                <a:srgbClr val="0B3D91"/>
              </a:solidFill>
            </a:endParaRPr>
          </a:p>
        </p:txBody>
      </p:sp>
      <p:sp>
        <p:nvSpPr>
          <p:cNvPr id="9" name="TextBox 8"/>
          <p:cNvSpPr txBox="1"/>
          <p:nvPr/>
        </p:nvSpPr>
        <p:spPr>
          <a:xfrm>
            <a:off x="9601199" y="2651760"/>
            <a:ext cx="1783080" cy="548640"/>
          </a:xfrm>
          <a:prstGeom prst="rect">
            <a:avLst/>
          </a:prstGeom>
          <a:noFill/>
        </p:spPr>
        <p:txBody>
          <a:bodyPr wrap="square" lIns="45720" tIns="27432" rIns="45720" bIns="27432" anchor="t">
            <a:spAutoFit/>
          </a:bodyPr>
          <a:lstStyle/>
          <a:p>
            <a:pPr algn="ctr">
              <a:spcAft>
                <a:spcPts val="600"/>
              </a:spcAft>
            </a:pPr>
            <a:r>
              <a:rPr sz="1200" b="0" i="0">
                <a:solidFill>
                  <a:srgbClr val="5A5A5A"/>
                </a:solidFill>
              </a:rPr>
              <a:t>MAE µg/m³: typical error</a:t>
            </a:r>
            <a:endParaRPr sz="1200" b="0" i="0">
              <a:solidFill>
                <a:srgbClr val="5A5A5A"/>
              </a:solidFill>
            </a:endParaRPr>
          </a:p>
        </p:txBody>
      </p:sp>
      <p:sp>
        <p:nvSpPr>
          <p:cNvPr id="10" name="Rounded Rectangle 9"/>
          <p:cNvSpPr/>
          <p:nvPr/>
        </p:nvSpPr>
        <p:spPr>
          <a:xfrm>
            <a:off x="7406640" y="3383279"/>
            <a:ext cx="1965960" cy="137160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79" y="3456432"/>
            <a:ext cx="1783080" cy="731520"/>
          </a:xfrm>
          <a:prstGeom prst="rect">
            <a:avLst/>
          </a:prstGeom>
          <a:noFill/>
        </p:spPr>
        <p:txBody>
          <a:bodyPr wrap="square" lIns="45720" tIns="27432" rIns="45720" bIns="27432" anchor="t">
            <a:spAutoFit/>
          </a:bodyPr>
          <a:lstStyle/>
          <a:p>
            <a:pPr algn="ctr">
              <a:spcAft>
                <a:spcPts val="600"/>
              </a:spcAft>
            </a:pPr>
            <a:r>
              <a:rPr sz="3400" b="1" i="0">
                <a:solidFill>
                  <a:srgbClr val="0B3D91"/>
                </a:solidFill>
              </a:rPr>
              <a:t>0.37</a:t>
            </a:r>
            <a:endParaRPr sz="3400" b="1" i="0">
              <a:solidFill>
                <a:srgbClr val="0B3D91"/>
              </a:solidFill>
            </a:endParaRPr>
          </a:p>
        </p:txBody>
      </p:sp>
      <p:sp>
        <p:nvSpPr>
          <p:cNvPr id="12" name="TextBox 11"/>
          <p:cNvSpPr txBox="1"/>
          <p:nvPr/>
        </p:nvSpPr>
        <p:spPr>
          <a:xfrm>
            <a:off x="7498079" y="4160520"/>
            <a:ext cx="1783080" cy="548640"/>
          </a:xfrm>
          <a:prstGeom prst="rect">
            <a:avLst/>
          </a:prstGeom>
          <a:noFill/>
        </p:spPr>
        <p:txBody>
          <a:bodyPr wrap="square" lIns="45720" tIns="27432" rIns="45720" bIns="27432" anchor="t">
            <a:spAutoFit/>
          </a:bodyPr>
          <a:lstStyle/>
          <a:p>
            <a:pPr algn="ctr">
              <a:spcAft>
                <a:spcPts val="600"/>
              </a:spcAft>
            </a:pPr>
            <a:r>
              <a:rPr sz="1200" b="0" i="0">
                <a:solidFill>
                  <a:srgbClr val="5A5A5A"/>
                </a:solidFill>
              </a:rPr>
              <a:t>R²: share of variance explained</a:t>
            </a:r>
            <a:endParaRPr sz="1200" b="0" i="0">
              <a:solidFill>
                <a:srgbClr val="5A5A5A"/>
              </a:solidFill>
            </a:endParaRPr>
          </a:p>
        </p:txBody>
      </p:sp>
      <p:sp>
        <p:nvSpPr>
          <p:cNvPr id="13" name="Rounded Rectangle 12"/>
          <p:cNvSpPr/>
          <p:nvPr/>
        </p:nvSpPr>
        <p:spPr>
          <a:xfrm>
            <a:off x="9509759" y="3383279"/>
            <a:ext cx="1965960" cy="137160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199" y="3456432"/>
            <a:ext cx="1783080" cy="731520"/>
          </a:xfrm>
          <a:prstGeom prst="rect">
            <a:avLst/>
          </a:prstGeom>
          <a:noFill/>
        </p:spPr>
        <p:txBody>
          <a:bodyPr wrap="square" lIns="45720" tIns="27432" rIns="45720" bIns="27432" anchor="t">
            <a:spAutoFit/>
          </a:bodyPr>
          <a:lstStyle/>
          <a:p>
            <a:pPr algn="ctr">
              <a:spcAft>
                <a:spcPts val="600"/>
              </a:spcAft>
            </a:pPr>
            <a:r>
              <a:rPr sz="3400" b="1" i="0">
                <a:solidFill>
                  <a:srgbClr val="0B3D91"/>
                </a:solidFill>
              </a:rPr>
              <a:t>64 %</a:t>
            </a:r>
            <a:endParaRPr sz="3400" b="1" i="0">
              <a:solidFill>
                <a:srgbClr val="0B3D91"/>
              </a:solidFill>
            </a:endParaRPr>
          </a:p>
        </p:txBody>
      </p:sp>
      <p:sp>
        <p:nvSpPr>
          <p:cNvPr id="15" name="TextBox 14"/>
          <p:cNvSpPr txBox="1"/>
          <p:nvPr/>
        </p:nvSpPr>
        <p:spPr>
          <a:xfrm>
            <a:off x="9601199" y="4160520"/>
            <a:ext cx="1783080" cy="548640"/>
          </a:xfrm>
          <a:prstGeom prst="rect">
            <a:avLst/>
          </a:prstGeom>
          <a:noFill/>
        </p:spPr>
        <p:txBody>
          <a:bodyPr wrap="square" lIns="45720" tIns="27432" rIns="45720" bIns="27432" anchor="t">
            <a:spAutoFit/>
          </a:bodyPr>
          <a:lstStyle/>
          <a:p>
            <a:pPr algn="ctr">
              <a:spcAft>
                <a:spcPts val="600"/>
              </a:spcAft>
            </a:pPr>
            <a:r>
              <a:rPr sz="1200" b="0" i="0">
                <a:solidFill>
                  <a:srgbClr val="5A5A5A"/>
                </a:solidFill>
              </a:rPr>
              <a:t>hours in the right AQI band</a:t>
            </a:r>
            <a:endParaRPr sz="1200" b="0" i="0">
              <a:solidFill>
                <a:srgbClr val="5A5A5A"/>
              </a:solidFill>
            </a:endParaRPr>
          </a:p>
        </p:txBody>
      </p:sp>
      <p:sp>
        <p:nvSpPr>
          <p:cNvPr id="16" name="TextBox 15"/>
          <p:cNvSpPr txBox="1"/>
          <p:nvPr/>
        </p:nvSpPr>
        <p:spPr>
          <a:xfrm>
            <a:off x="7406640" y="4956048"/>
            <a:ext cx="4114800" cy="914400"/>
          </a:xfrm>
          <a:prstGeom prst="rect">
            <a:avLst/>
          </a:prstGeom>
          <a:noFill/>
        </p:spPr>
        <p:txBody>
          <a:bodyPr wrap="square" lIns="45720" tIns="27432" rIns="45720" bIns="27432" anchor="t">
            <a:spAutoFit/>
          </a:bodyPr>
          <a:lstStyle/>
          <a:p>
            <a:pPr algn="l">
              <a:spcAft>
                <a:spcPts val="600"/>
              </a:spcAft>
            </a:pPr>
            <a:r>
              <a:rPr sz="1200" b="0" i="0">
                <a:solidFill>
                  <a:srgbClr val="222222"/>
                </a:solidFill>
              </a:rPr>
              <a:t>Bias +3.4 µg/m³: slight over-prediction, which errs on the side of caution for health warnings.</a:t>
            </a:r>
            <a:endParaRPr sz="1200" b="0" i="0">
              <a:solidFill>
                <a:srgbClr val="22222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5800" y="685800"/>
            <a:ext cx="9052560" cy="777240"/>
          </a:xfrm>
        </p:spPr>
        <p:txBody>
          <a:bodyPr anchor="ctr"/>
          <a:lstStyle/>
          <a:p>
            <a:r>
              <a:rPr sz="3000"/>
              <a:t>Where the model hits and misses</a:t>
            </a:r>
            <a:endParaRPr sz="3000"/>
          </a:p>
        </p:txBody>
      </p:sp>
      <p:pic>
        <p:nvPicPr>
          <p:cNvPr id="3" name="Picture 2" descr="best_model_diagnostics.png"/>
          <p:cNvPicPr>
            <a:picLocks noChangeAspect="1"/>
          </p:cNvPicPr>
          <p:nvPr/>
        </p:nvPicPr>
        <p:blipFill>
          <a:blip r:embed="rId1"/>
          <a:stretch>
            <a:fillRect/>
          </a:stretch>
        </p:blipFill>
        <p:spPr>
          <a:xfrm>
            <a:off x="548640" y="1848480"/>
            <a:ext cx="11064240" cy="2932439"/>
          </a:xfrm>
          <a:prstGeom prst="rect">
            <a:avLst/>
          </a:prstGeom>
        </p:spPr>
      </p:pic>
      <p:sp>
        <p:nvSpPr>
          <p:cNvPr id="4" name="TextBox 3"/>
          <p:cNvSpPr txBox="1"/>
          <p:nvPr/>
        </p:nvSpPr>
        <p:spPr>
          <a:xfrm>
            <a:off x="685800" y="4892040"/>
            <a:ext cx="10789920" cy="1005840"/>
          </a:xfrm>
          <a:prstGeom prst="rect">
            <a:avLst/>
          </a:prstGeom>
          <a:noFill/>
        </p:spPr>
        <p:txBody>
          <a:bodyPr wrap="square" lIns="45720" tIns="27432" rIns="45720" bIns="27432" anchor="t">
            <a:spAutoFit/>
          </a:bodyPr>
          <a:lstStyle/>
          <a:p>
            <a:pPr algn="l">
              <a:spcAft>
                <a:spcPts val="600"/>
              </a:spcAft>
            </a:pPr>
            <a:r>
              <a:rPr sz="1200" b="0" i="0">
                <a:solidFill>
                  <a:srgbClr val="222222"/>
                </a:solidFill>
              </a:rPr>
              <a:t>• Spikes above ~120 µg/m³ are under-predicted: no input says 'a fire is burning now'. Adding lagged PM2.5 would fix this for next-hour forecasts but is unavailable for a 2-month-ahead August forecast.</a:t>
            </a:r>
            <a:endParaRPr sz="1200" b="0" i="0">
              <a:solidFill>
                <a:srgbClr val="222222"/>
              </a:solidFill>
            </a:endParaRPr>
          </a:p>
          <a:p>
            <a:pPr algn="l">
              <a:spcAft>
                <a:spcPts val="600"/>
              </a:spcAft>
            </a:pPr>
            <a:r>
              <a:rPr sz="1200" b="0" i="0">
                <a:solidFill>
                  <a:srgbClr val="222222"/>
                </a:solidFill>
              </a:rPr>
              <a:t>• Errors mostly fall into the neighbouring AQI band, rarely two bands away.</a:t>
            </a:r>
            <a:endParaRPr sz="1200" b="0" i="0">
              <a:solidFill>
                <a:srgbClr val="22222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5800" y="685800"/>
            <a:ext cx="9052560" cy="777240"/>
          </a:xfrm>
        </p:spPr>
        <p:txBody>
          <a:bodyPr anchor="ctr"/>
          <a:lstStyle/>
          <a:p>
            <a:r>
              <a:rPr sz="3000"/>
              <a:t>What drives the predictions</a:t>
            </a:r>
            <a:endParaRPr sz="3000"/>
          </a:p>
        </p:txBody>
      </p:sp>
      <p:graphicFrame>
        <p:nvGraphicFramePr>
          <p:cNvPr id="3" name="Chart 2"/>
          <p:cNvGraphicFramePr>
            <a:graphicFrameLocks noGrp="1"/>
          </p:cNvGraphicFramePr>
          <p:nvPr/>
        </p:nvGraphicFramePr>
        <p:xfrm>
          <a:off x="548640" y="1828800"/>
          <a:ext cx="6400800" cy="4023360"/>
        </p:xfrm>
        <a:graphic>
          <a:graphicData uri="http://schemas.openxmlformats.org/drawingml/2006/chart">
            <c:chart xmlns:c="http://schemas.openxmlformats.org/drawingml/2006/chart" xmlns:r="http://schemas.openxmlformats.org/officeDocument/2006/relationships" r:id="rId1"/>
          </a:graphicData>
        </a:graphic>
      </p:graphicFrame>
      <p:sp>
        <p:nvSpPr>
          <p:cNvPr id="4" name="TextBox 3"/>
          <p:cNvSpPr txBox="1"/>
          <p:nvPr/>
        </p:nvSpPr>
        <p:spPr>
          <a:xfrm>
            <a:off x="7315200" y="1920240"/>
            <a:ext cx="4206240" cy="3931920"/>
          </a:xfrm>
          <a:prstGeom prst="rect">
            <a:avLst/>
          </a:prstGeom>
          <a:noFill/>
        </p:spPr>
        <p:txBody>
          <a:bodyPr wrap="square" lIns="45720" tIns="27432" rIns="45720" bIns="27432" anchor="t">
            <a:spAutoFit/>
          </a:bodyPr>
          <a:lstStyle/>
          <a:p>
            <a:pPr algn="l">
              <a:spcAft>
                <a:spcPts val="600"/>
              </a:spcAft>
            </a:pPr>
            <a:r>
              <a:rPr sz="1600" b="1" i="0">
                <a:solidFill>
                  <a:srgbClr val="0B3D91"/>
                </a:solidFill>
              </a:rPr>
              <a:t>Reading the chart</a:t>
            </a:r>
            <a:endParaRPr sz="1600" b="1" i="0">
              <a:solidFill>
                <a:srgbClr val="0B3D91"/>
              </a:solidFill>
            </a:endParaRPr>
          </a:p>
          <a:p>
            <a:pPr algn="l">
              <a:spcAft>
                <a:spcPts val="600"/>
              </a:spcAft>
            </a:pPr>
            <a:r>
              <a:rPr sz="1300" b="0" i="0">
                <a:solidFill>
                  <a:srgbClr val="222222"/>
                </a:solidFill>
              </a:rPr>
              <a:t>• Top inputs: month, device_name, hour_cos.</a:t>
            </a:r>
            <a:endParaRPr sz="1300" b="0" i="0">
              <a:solidFill>
                <a:srgbClr val="222222"/>
              </a:solidFill>
            </a:endParaRPr>
          </a:p>
          <a:p>
            <a:pPr algn="l">
              <a:spcAft>
                <a:spcPts val="600"/>
              </a:spcAft>
            </a:pPr>
            <a:r>
              <a:rPr sz="1300" b="0" i="0">
                <a:solidFill>
                  <a:srgbClr val="222222"/>
                </a:solidFill>
              </a:rPr>
              <a:t>• month = the season / window level: January was twice as polluted as April and June.</a:t>
            </a:r>
            <a:endParaRPr sz="1300" b="0" i="0">
              <a:solidFill>
                <a:srgbClr val="222222"/>
              </a:solidFill>
            </a:endParaRPr>
          </a:p>
          <a:p>
            <a:pPr algn="l">
              <a:spcAft>
                <a:spcPts val="600"/>
              </a:spcAft>
            </a:pPr>
            <a:r>
              <a:rPr sz="1300" b="0" i="0">
                <a:solidFill>
                  <a:srgbClr val="222222"/>
                </a:solidFill>
              </a:rPr>
              <a:t>• device_name (target-encoded) = the site's own baseline: roadside and market sites sit higher.</a:t>
            </a:r>
            <a:endParaRPr sz="1300" b="0" i="0">
              <a:solidFill>
                <a:srgbClr val="222222"/>
              </a:solidFill>
            </a:endParaRPr>
          </a:p>
          <a:p>
            <a:pPr algn="l">
              <a:spcAft>
                <a:spcPts val="600"/>
              </a:spcAft>
            </a:pPr>
            <a:r>
              <a:rPr sz="1300" b="0" i="0">
                <a:solidFill>
                  <a:srgbClr val="222222"/>
                </a:solidFill>
              </a:rPr>
              <a:t>• hour_sin / hour_cos = the morning and evening peaks seen in the EDA.</a:t>
            </a:r>
            <a:endParaRPr sz="1300" b="0" i="0">
              <a:solidFill>
                <a:srgbClr val="222222"/>
              </a:solidFill>
            </a:endParaRPr>
          </a:p>
          <a:p>
            <a:pPr algn="l">
              <a:spcAft>
                <a:spcPts val="600"/>
              </a:spcAft>
            </a:pPr>
            <a:r>
              <a:rPr sz="1300" b="0" i="0">
                <a:solidFill>
                  <a:srgbClr val="222222"/>
                </a:solidFill>
              </a:rPr>
              <a:t>• temp and humidity add the weather signal; an importance near 0 means the model barely uses that input.</a:t>
            </a:r>
            <a:endParaRPr sz="1300" b="0" i="0">
              <a:solidFill>
                <a:srgbClr val="222222"/>
              </a:solidFill>
            </a:endParaRPr>
          </a:p>
          <a:p>
            <a:pPr algn="l">
              <a:spcAft>
                <a:spcPts val="600"/>
              </a:spcAft>
            </a:pPr>
            <a:r>
              <a:rPr sz="1300" b="1" i="0">
                <a:solidFill>
                  <a:srgbClr val="D7014D"/>
                </a:solidFill>
              </a:rPr>
              <a:t>• Decision: more months of data would help far more than a more complex model.</a:t>
            </a:r>
            <a:endParaRPr sz="1300" b="1" i="0">
              <a:solidFill>
                <a:srgbClr val="D7014D"/>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5800" y="685800"/>
            <a:ext cx="9052560" cy="777240"/>
          </a:xfrm>
        </p:spPr>
        <p:txBody>
          <a:bodyPr anchor="ctr"/>
          <a:lstStyle/>
          <a:p>
            <a:r>
              <a:rPr sz="3000"/>
              <a:t>Daily forecast: 3–16 August 2026</a:t>
            </a:r>
            <a:endParaRPr sz="3000"/>
          </a:p>
        </p:txBody>
      </p:sp>
      <p:pic>
        <p:nvPicPr>
          <p:cNvPr id="3" name="Picture 2" descr="forecast_calendar.png"/>
          <p:cNvPicPr>
            <a:picLocks noChangeAspect="1"/>
          </p:cNvPicPr>
          <p:nvPr/>
        </p:nvPicPr>
        <p:blipFill>
          <a:blip r:embed="rId1"/>
          <a:stretch>
            <a:fillRect/>
          </a:stretch>
        </p:blipFill>
        <p:spPr>
          <a:xfrm>
            <a:off x="548640" y="1878063"/>
            <a:ext cx="11064240" cy="2781833"/>
          </a:xfrm>
          <a:prstGeom prst="rect">
            <a:avLst/>
          </a:prstGeom>
        </p:spPr>
      </p:pic>
      <p:sp>
        <p:nvSpPr>
          <p:cNvPr id="4" name="Rounded Rectangle 3"/>
          <p:cNvSpPr/>
          <p:nvPr/>
        </p:nvSpPr>
        <p:spPr>
          <a:xfrm>
            <a:off x="685800" y="4754880"/>
            <a:ext cx="2194560" cy="109728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773168"/>
            <a:ext cx="2103120" cy="548640"/>
          </a:xfrm>
          <a:prstGeom prst="rect">
            <a:avLst/>
          </a:prstGeom>
          <a:noFill/>
        </p:spPr>
        <p:txBody>
          <a:bodyPr wrap="square" lIns="45720" tIns="27432" rIns="45720" bIns="27432" anchor="t">
            <a:spAutoFit/>
          </a:bodyPr>
          <a:lstStyle/>
          <a:p>
            <a:pPr algn="ctr">
              <a:spcAft>
                <a:spcPts val="600"/>
              </a:spcAft>
            </a:pPr>
            <a:r>
              <a:rPr sz="2600" b="1" i="0">
                <a:solidFill>
                  <a:srgbClr val="0B3D91"/>
                </a:solidFill>
              </a:rPr>
              <a:t>1,862</a:t>
            </a:r>
            <a:endParaRPr sz="2600" b="1" i="0">
              <a:solidFill>
                <a:srgbClr val="0B3D91"/>
              </a:solidFill>
            </a:endParaRPr>
          </a:p>
        </p:txBody>
      </p:sp>
      <p:sp>
        <p:nvSpPr>
          <p:cNvPr id="6" name="TextBox 5"/>
          <p:cNvSpPr txBox="1"/>
          <p:nvPr/>
        </p:nvSpPr>
        <p:spPr>
          <a:xfrm>
            <a:off x="731520" y="5303520"/>
            <a:ext cx="2103120" cy="548640"/>
          </a:xfrm>
          <a:prstGeom prst="rect">
            <a:avLst/>
          </a:prstGeom>
          <a:noFill/>
        </p:spPr>
        <p:txBody>
          <a:bodyPr wrap="square" lIns="45720" tIns="27432" rIns="45720" bIns="27432" anchor="t">
            <a:spAutoFit/>
          </a:bodyPr>
          <a:lstStyle/>
          <a:p>
            <a:pPr algn="ctr">
              <a:spcAft>
                <a:spcPts val="600"/>
              </a:spcAft>
            </a:pPr>
            <a:r>
              <a:rPr sz="1100" b="0" i="0">
                <a:solidFill>
                  <a:srgbClr val="5A5A5A"/>
                </a:solidFill>
              </a:rPr>
              <a:t>sensor-days Moderate</a:t>
            </a:r>
            <a:endParaRPr sz="1100" b="0" i="0">
              <a:solidFill>
                <a:srgbClr val="5A5A5A"/>
              </a:solidFill>
            </a:endParaRPr>
          </a:p>
        </p:txBody>
      </p:sp>
      <p:sp>
        <p:nvSpPr>
          <p:cNvPr id="7" name="Rounded Rectangle 6"/>
          <p:cNvSpPr/>
          <p:nvPr/>
        </p:nvSpPr>
        <p:spPr>
          <a:xfrm>
            <a:off x="3017520" y="4754880"/>
            <a:ext cx="2194560" cy="109728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63239" y="4773168"/>
            <a:ext cx="2103120" cy="548640"/>
          </a:xfrm>
          <a:prstGeom prst="rect">
            <a:avLst/>
          </a:prstGeom>
          <a:noFill/>
        </p:spPr>
        <p:txBody>
          <a:bodyPr wrap="square" lIns="45720" tIns="27432" rIns="45720" bIns="27432" anchor="t">
            <a:spAutoFit/>
          </a:bodyPr>
          <a:lstStyle/>
          <a:p>
            <a:pPr algn="ctr">
              <a:spcAft>
                <a:spcPts val="600"/>
              </a:spcAft>
            </a:pPr>
            <a:r>
              <a:rPr sz="2600" b="1" i="0">
                <a:solidFill>
                  <a:srgbClr val="D7014D"/>
                </a:solidFill>
              </a:rPr>
              <a:t>154</a:t>
            </a:r>
            <a:endParaRPr sz="2600" b="1" i="0">
              <a:solidFill>
                <a:srgbClr val="D7014D"/>
              </a:solidFill>
            </a:endParaRPr>
          </a:p>
        </p:txBody>
      </p:sp>
      <p:sp>
        <p:nvSpPr>
          <p:cNvPr id="9" name="TextBox 8"/>
          <p:cNvSpPr txBox="1"/>
          <p:nvPr/>
        </p:nvSpPr>
        <p:spPr>
          <a:xfrm>
            <a:off x="3063239" y="5303520"/>
            <a:ext cx="2103120" cy="548640"/>
          </a:xfrm>
          <a:prstGeom prst="rect">
            <a:avLst/>
          </a:prstGeom>
          <a:noFill/>
        </p:spPr>
        <p:txBody>
          <a:bodyPr wrap="square" lIns="45720" tIns="27432" rIns="45720" bIns="27432" anchor="t">
            <a:spAutoFit/>
          </a:bodyPr>
          <a:lstStyle/>
          <a:p>
            <a:pPr algn="ctr">
              <a:spcAft>
                <a:spcPts val="600"/>
              </a:spcAft>
            </a:pPr>
            <a:r>
              <a:rPr sz="1100" b="0" i="0">
                <a:solidFill>
                  <a:srgbClr val="5A5A5A"/>
                </a:solidFill>
              </a:rPr>
              <a:t>sensor-days USG</a:t>
            </a:r>
            <a:endParaRPr sz="1100" b="0" i="0">
              <a:solidFill>
                <a:srgbClr val="5A5A5A"/>
              </a:solidFill>
            </a:endParaRPr>
          </a:p>
        </p:txBody>
      </p:sp>
      <p:sp>
        <p:nvSpPr>
          <p:cNvPr id="10" name="Rounded Rectangle 9"/>
          <p:cNvSpPr/>
          <p:nvPr/>
        </p:nvSpPr>
        <p:spPr>
          <a:xfrm>
            <a:off x="5349240" y="4754880"/>
            <a:ext cx="2194560" cy="109728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94959" y="4773168"/>
            <a:ext cx="2103120" cy="548640"/>
          </a:xfrm>
          <a:prstGeom prst="rect">
            <a:avLst/>
          </a:prstGeom>
          <a:noFill/>
        </p:spPr>
        <p:txBody>
          <a:bodyPr wrap="square" lIns="45720" tIns="27432" rIns="45720" bIns="27432" anchor="t">
            <a:spAutoFit/>
          </a:bodyPr>
          <a:lstStyle/>
          <a:p>
            <a:pPr algn="ctr">
              <a:spcAft>
                <a:spcPts val="600"/>
              </a:spcAft>
            </a:pPr>
            <a:r>
              <a:rPr sz="2600" b="1" i="0">
                <a:solidFill>
                  <a:srgbClr val="D7014D"/>
                </a:solidFill>
              </a:rPr>
              <a:t>70</a:t>
            </a:r>
            <a:endParaRPr sz="2600" b="1" i="0">
              <a:solidFill>
                <a:srgbClr val="D7014D"/>
              </a:solidFill>
            </a:endParaRPr>
          </a:p>
        </p:txBody>
      </p:sp>
      <p:sp>
        <p:nvSpPr>
          <p:cNvPr id="12" name="TextBox 11"/>
          <p:cNvSpPr txBox="1"/>
          <p:nvPr/>
        </p:nvSpPr>
        <p:spPr>
          <a:xfrm>
            <a:off x="5394959" y="5303520"/>
            <a:ext cx="2103120" cy="548640"/>
          </a:xfrm>
          <a:prstGeom prst="rect">
            <a:avLst/>
          </a:prstGeom>
          <a:noFill/>
        </p:spPr>
        <p:txBody>
          <a:bodyPr wrap="square" lIns="45720" tIns="27432" rIns="45720" bIns="27432" anchor="t">
            <a:spAutoFit/>
          </a:bodyPr>
          <a:lstStyle/>
          <a:p>
            <a:pPr algn="ctr">
              <a:spcAft>
                <a:spcPts val="600"/>
              </a:spcAft>
            </a:pPr>
            <a:r>
              <a:rPr sz="1100" b="0" i="0">
                <a:solidFill>
                  <a:srgbClr val="5A5A5A"/>
                </a:solidFill>
              </a:rPr>
              <a:t>sensor-days Unhealthy</a:t>
            </a:r>
            <a:endParaRPr sz="1100" b="0" i="0">
              <a:solidFill>
                <a:srgbClr val="5A5A5A"/>
              </a:solidFill>
            </a:endParaRPr>
          </a:p>
        </p:txBody>
      </p:sp>
      <p:sp>
        <p:nvSpPr>
          <p:cNvPr id="13" name="TextBox 12"/>
          <p:cNvSpPr txBox="1"/>
          <p:nvPr/>
        </p:nvSpPr>
        <p:spPr>
          <a:xfrm>
            <a:off x="7772400" y="4754880"/>
            <a:ext cx="3749039" cy="1097280"/>
          </a:xfrm>
          <a:prstGeom prst="rect">
            <a:avLst/>
          </a:prstGeom>
          <a:noFill/>
        </p:spPr>
        <p:txBody>
          <a:bodyPr wrap="square" lIns="45720" tIns="27432" rIns="45720" bIns="27432" anchor="t">
            <a:spAutoFit/>
          </a:bodyPr>
          <a:lstStyle/>
          <a:p>
            <a:pPr algn="l">
              <a:spcAft>
                <a:spcPts val="600"/>
              </a:spcAft>
            </a:pPr>
            <a:r>
              <a:rPr sz="1200" b="0" i="0">
                <a:solidFill>
                  <a:srgbClr val="222222"/>
                </a:solidFill>
              </a:rPr>
              <a:t>Why flat? Weather and weekday are unknown for August, so each sensor gets its typical August day. Feed a weather forecast into temp/RH to make days differ.</a:t>
            </a:r>
            <a:endParaRPr sz="1200" b="0" i="0">
              <a:solidFill>
                <a:srgbClr val="22222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5800" y="685800"/>
            <a:ext cx="9052560" cy="777240"/>
          </a:xfrm>
        </p:spPr>
        <p:txBody>
          <a:bodyPr anchor="ctr"/>
          <a:lstStyle/>
          <a:p>
            <a:r>
              <a:rPr sz="3000"/>
              <a:t>Hourly forecast: Saturday 1 August</a:t>
            </a:r>
            <a:endParaRPr sz="3000"/>
          </a:p>
        </p:txBody>
      </p:sp>
      <p:pic>
        <p:nvPicPr>
          <p:cNvPr id="3" name="Picture 2" descr="forecast_hourly_aug1.png"/>
          <p:cNvPicPr>
            <a:picLocks noChangeAspect="1"/>
          </p:cNvPicPr>
          <p:nvPr/>
        </p:nvPicPr>
        <p:blipFill>
          <a:blip r:embed="rId1"/>
          <a:stretch>
            <a:fillRect/>
          </a:stretch>
        </p:blipFill>
        <p:spPr>
          <a:xfrm>
            <a:off x="548640" y="1882217"/>
            <a:ext cx="11064240" cy="3825084"/>
          </a:xfrm>
          <a:prstGeom prst="rect">
            <a:avLst/>
          </a:prstGeom>
        </p:spPr>
      </p:pic>
      <p:sp>
        <p:nvSpPr>
          <p:cNvPr id="4" name="TextBox 3"/>
          <p:cNvSpPr txBox="1"/>
          <p:nvPr/>
        </p:nvSpPr>
        <p:spPr>
          <a:xfrm>
            <a:off x="685800" y="5833872"/>
            <a:ext cx="10789920" cy="292608"/>
          </a:xfrm>
          <a:prstGeom prst="rect">
            <a:avLst/>
          </a:prstGeom>
          <a:noFill/>
        </p:spPr>
        <p:txBody>
          <a:bodyPr wrap="square" lIns="45720" tIns="27432" rIns="45720" bIns="27432" anchor="t">
            <a:spAutoFit/>
          </a:bodyPr>
          <a:lstStyle/>
          <a:p>
            <a:pPr algn="l">
              <a:spcAft>
                <a:spcPts val="600"/>
              </a:spcAft>
            </a:pPr>
            <a:r>
              <a:rPr sz="1000" b="0" i="1">
                <a:solidFill>
                  <a:srgbClr val="5A5A5A"/>
                </a:solidFill>
              </a:rPr>
              <a:t>Outputs: forecast_hourly_2026-08-01.csv (149 sensors × 24 h) and forecast_daily_2026-08-03_to_16.csv, both in µg/m³ after inverse Z-scoring.</a:t>
            </a:r>
            <a:endParaRPr sz="1000" b="0" i="1">
              <a:solidFill>
                <a:srgbClr val="5A5A5A"/>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5800" y="685800"/>
            <a:ext cx="9052560" cy="777240"/>
          </a:xfrm>
        </p:spPr>
        <p:txBody>
          <a:bodyPr anchor="ctr"/>
          <a:lstStyle/>
          <a:p>
            <a:r>
              <a:rPr lang="en-US" sz="3000"/>
              <a:t>U</a:t>
            </a:r>
            <a:r>
              <a:rPr sz="3000"/>
              <a:t>nhealthy air at 13:00, 1 August</a:t>
            </a:r>
            <a:endParaRPr sz="3000"/>
          </a:p>
        </p:txBody>
      </p:sp>
      <p:pic>
        <p:nvPicPr>
          <p:cNvPr id="3" name="Picture 2" descr="bonus_map_13h.png"/>
          <p:cNvPicPr>
            <a:picLocks noChangeAspect="1"/>
          </p:cNvPicPr>
          <p:nvPr/>
        </p:nvPicPr>
        <p:blipFill>
          <a:blip r:embed="rId1"/>
          <a:stretch>
            <a:fillRect/>
          </a:stretch>
        </p:blipFill>
        <p:spPr>
          <a:xfrm>
            <a:off x="2181229" y="1828800"/>
            <a:ext cx="7799061" cy="40233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Monitoring &amp; deployment</a:t>
            </a:r>
          </a:p>
        </p:txBody>
      </p:sp>
      <p:sp>
        <p:nvSpPr>
          <p:cNvPr id="3" name="Text Placeholder 2"/>
          <p:cNvSpPr>
            <a:spLocks noGrp="1"/>
          </p:cNvSpPr>
          <p:nvPr>
            <p:ph type="body" idx="1"/>
          </p:nvPr>
        </p:nvSpPr>
        <p:spPr/>
        <p:txBody>
          <a:bodyPr/>
          <a:lstStyle/>
          <a:p>
            <a:r>
              <a:t>Evidently AI data drift and model drift · running the pipeline on a RunPod pod for under $5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5800" y="685800"/>
            <a:ext cx="9052560" cy="777240"/>
          </a:xfrm>
        </p:spPr>
        <p:txBody>
          <a:bodyPr anchor="ctr"/>
          <a:lstStyle/>
          <a:p>
            <a:r>
              <a:rPr sz="3000"/>
              <a:t>Evidently AI: is anything drifting?</a:t>
            </a:r>
            <a:endParaRPr sz="3000"/>
          </a:p>
        </p:txBody>
      </p:sp>
      <p:graphicFrame>
        <p:nvGraphicFramePr>
          <p:cNvPr id="3" name="Table 2"/>
          <p:cNvGraphicFramePr>
            <a:graphicFrameLocks noGrp="1"/>
          </p:cNvGraphicFramePr>
          <p:nvPr/>
        </p:nvGraphicFramePr>
        <p:xfrm>
          <a:off x="685800" y="1920240"/>
          <a:ext cx="3749040" cy="2798064"/>
        </p:xfrm>
        <a:graphic>
          <a:graphicData uri="http://schemas.openxmlformats.org/drawingml/2006/table">
            <a:tbl>
              <a:tblPr firstRow="1" bandRow="1">
                <a:tableStyleId>{5C22544A-7EE6-4342-B048-85BDC9FD1C3A}</a:tableStyleId>
              </a:tblPr>
              <a:tblGrid>
                <a:gridCol w="1463040"/>
                <a:gridCol w="1280160"/>
                <a:gridCol w="1005840"/>
              </a:tblGrid>
              <a:tr h="310896">
                <a:tc>
                  <a:txBody>
                    <a:bodyPr/>
                    <a:lstStyle/>
                    <a:p>
                      <a:r>
                        <a:rPr sz="1100" b="1">
                          <a:solidFill>
                            <a:srgbClr val="FFFFFF"/>
                          </a:solidFill>
                        </a:rPr>
                        <a:t>Run A feature</a:t>
                      </a:r>
                      <a:endParaRPr sz="1100" b="1">
                        <a:solidFill>
                          <a:srgbClr val="FFFFFF"/>
                        </a:solidFill>
                      </a:endParaRPr>
                    </a:p>
                  </a:txBody>
                  <a:tcPr marL="54864" marR="54864" marT="18288" marB="18288" anchor="ctr">
                    <a:solidFill>
                      <a:srgbClr val="0B3D91"/>
                    </a:solidFill>
                  </a:tcPr>
                </a:tc>
                <a:tc>
                  <a:txBody>
                    <a:bodyPr/>
                    <a:lstStyle/>
                    <a:p>
                      <a:r>
                        <a:rPr sz="1100" b="1">
                          <a:solidFill>
                            <a:srgbClr val="FFFFFF"/>
                          </a:solidFill>
                        </a:rPr>
                        <a:t>Wasserstein</a:t>
                      </a:r>
                      <a:endParaRPr sz="1100" b="1">
                        <a:solidFill>
                          <a:srgbClr val="FFFFFF"/>
                        </a:solidFill>
                      </a:endParaRPr>
                    </a:p>
                  </a:txBody>
                  <a:tcPr marL="54864" marR="54864" marT="18288" marB="18288" anchor="ctr">
                    <a:solidFill>
                      <a:srgbClr val="0B3D91"/>
                    </a:solidFill>
                  </a:tcPr>
                </a:tc>
                <a:tc>
                  <a:txBody>
                    <a:bodyPr/>
                    <a:lstStyle/>
                    <a:p>
                      <a:r>
                        <a:rPr sz="1100" b="1">
                          <a:solidFill>
                            <a:srgbClr val="FFFFFF"/>
                          </a:solidFill>
                        </a:rPr>
                        <a:t>Drift?</a:t>
                      </a:r>
                      <a:endParaRPr sz="1100" b="1">
                        <a:solidFill>
                          <a:srgbClr val="FFFFFF"/>
                        </a:solidFill>
                      </a:endParaRPr>
                    </a:p>
                  </a:txBody>
                  <a:tcPr marL="54864" marR="54864" marT="18288" marB="18288" anchor="ctr">
                    <a:solidFill>
                      <a:srgbClr val="0B3D91"/>
                    </a:solidFill>
                  </a:tcPr>
                </a:tc>
              </a:tr>
              <a:tr h="310896">
                <a:tc>
                  <a:txBody>
                    <a:bodyPr/>
                    <a:lstStyle/>
                    <a:p>
                      <a:r>
                        <a:rPr sz="1100" b="0">
                          <a:solidFill>
                            <a:srgbClr val="222222"/>
                          </a:solidFill>
                        </a:rPr>
                        <a:t>temp</a:t>
                      </a:r>
                      <a:endParaRPr sz="1100" b="0">
                        <a:solidFill>
                          <a:srgbClr val="222222"/>
                        </a:solidFill>
                      </a:endParaRPr>
                    </a:p>
                  </a:txBody>
                  <a:tcPr marL="54864" marR="54864" marT="18288" marB="18288" anchor="ctr">
                    <a:solidFill>
                      <a:srgbClr val="FFFFFF"/>
                    </a:solidFill>
                  </a:tcPr>
                </a:tc>
                <a:tc>
                  <a:txBody>
                    <a:bodyPr/>
                    <a:lstStyle/>
                    <a:p>
                      <a:r>
                        <a:rPr sz="1100" b="0">
                          <a:solidFill>
                            <a:srgbClr val="222222"/>
                          </a:solidFill>
                        </a:rPr>
                        <a:t>0.160</a:t>
                      </a:r>
                      <a:endParaRPr sz="1100" b="0">
                        <a:solidFill>
                          <a:srgbClr val="222222"/>
                        </a:solidFill>
                      </a:endParaRPr>
                    </a:p>
                  </a:txBody>
                  <a:tcPr marL="54864" marR="54864" marT="18288" marB="18288" anchor="ctr">
                    <a:solidFill>
                      <a:srgbClr val="FFFFFF"/>
                    </a:solidFill>
                  </a:tcPr>
                </a:tc>
                <a:tc>
                  <a:txBody>
                    <a:bodyPr/>
                    <a:lstStyle/>
                    <a:p>
                      <a:r>
                        <a:rPr sz="1100" b="0">
                          <a:solidFill>
                            <a:srgbClr val="222222"/>
                          </a:solidFill>
                        </a:rPr>
                        <a:t>Yes</a:t>
                      </a:r>
                      <a:endParaRPr sz="1100" b="0">
                        <a:solidFill>
                          <a:srgbClr val="222222"/>
                        </a:solidFill>
                      </a:endParaRPr>
                    </a:p>
                  </a:txBody>
                  <a:tcPr marL="54864" marR="54864" marT="18288" marB="18288" anchor="ctr">
                    <a:solidFill>
                      <a:srgbClr val="FFFFFF"/>
                    </a:solidFill>
                  </a:tcPr>
                </a:tc>
              </a:tr>
              <a:tr h="310896">
                <a:tc>
                  <a:txBody>
                    <a:bodyPr/>
                    <a:lstStyle/>
                    <a:p>
                      <a:r>
                        <a:rPr sz="1100" b="0">
                          <a:solidFill>
                            <a:srgbClr val="222222"/>
                          </a:solidFill>
                        </a:rPr>
                        <a:t>humidity</a:t>
                      </a:r>
                      <a:endParaRPr sz="1100" b="0">
                        <a:solidFill>
                          <a:srgbClr val="222222"/>
                        </a:solidFill>
                      </a:endParaRPr>
                    </a:p>
                  </a:txBody>
                  <a:tcPr marL="54864" marR="54864" marT="18288" marB="18288" anchor="ctr">
                    <a:solidFill>
                      <a:srgbClr val="EEF2FA"/>
                    </a:solidFill>
                  </a:tcPr>
                </a:tc>
                <a:tc>
                  <a:txBody>
                    <a:bodyPr/>
                    <a:lstStyle/>
                    <a:p>
                      <a:r>
                        <a:rPr sz="1100" b="0">
                          <a:solidFill>
                            <a:srgbClr val="222222"/>
                          </a:solidFill>
                        </a:rPr>
                        <a:t>0.261</a:t>
                      </a:r>
                      <a:endParaRPr sz="1100" b="0">
                        <a:solidFill>
                          <a:srgbClr val="222222"/>
                        </a:solidFill>
                      </a:endParaRPr>
                    </a:p>
                  </a:txBody>
                  <a:tcPr marL="54864" marR="54864" marT="18288" marB="18288" anchor="ctr">
                    <a:solidFill>
                      <a:srgbClr val="EEF2FA"/>
                    </a:solidFill>
                  </a:tcPr>
                </a:tc>
                <a:tc>
                  <a:txBody>
                    <a:bodyPr/>
                    <a:lstStyle/>
                    <a:p>
                      <a:r>
                        <a:rPr sz="1100" b="0">
                          <a:solidFill>
                            <a:srgbClr val="222222"/>
                          </a:solidFill>
                        </a:rPr>
                        <a:t>Yes</a:t>
                      </a:r>
                      <a:endParaRPr sz="1100" b="0">
                        <a:solidFill>
                          <a:srgbClr val="222222"/>
                        </a:solidFill>
                      </a:endParaRPr>
                    </a:p>
                  </a:txBody>
                  <a:tcPr marL="54864" marR="54864" marT="18288" marB="18288" anchor="ctr">
                    <a:solidFill>
                      <a:srgbClr val="EEF2FA"/>
                    </a:solidFill>
                  </a:tcPr>
                </a:tc>
              </a:tr>
              <a:tr h="310896">
                <a:tc>
                  <a:txBody>
                    <a:bodyPr/>
                    <a:lstStyle/>
                    <a:p>
                      <a:r>
                        <a:rPr sz="1100" b="0">
                          <a:solidFill>
                            <a:srgbClr val="222222"/>
                          </a:solidFill>
                        </a:rPr>
                        <a:t>latitude</a:t>
                      </a:r>
                      <a:endParaRPr sz="1100" b="0">
                        <a:solidFill>
                          <a:srgbClr val="222222"/>
                        </a:solidFill>
                      </a:endParaRPr>
                    </a:p>
                  </a:txBody>
                  <a:tcPr marL="54864" marR="54864" marT="18288" marB="18288" anchor="ctr">
                    <a:solidFill>
                      <a:srgbClr val="FFFFFF"/>
                    </a:solidFill>
                  </a:tcPr>
                </a:tc>
                <a:tc>
                  <a:txBody>
                    <a:bodyPr/>
                    <a:lstStyle/>
                    <a:p>
                      <a:r>
                        <a:rPr sz="1100" b="0">
                          <a:solidFill>
                            <a:srgbClr val="222222"/>
                          </a:solidFill>
                        </a:rPr>
                        <a:t>0.005</a:t>
                      </a:r>
                      <a:endParaRPr sz="1100" b="0">
                        <a:solidFill>
                          <a:srgbClr val="222222"/>
                        </a:solidFill>
                      </a:endParaRPr>
                    </a:p>
                  </a:txBody>
                  <a:tcPr marL="54864" marR="54864" marT="18288" marB="18288" anchor="ctr">
                    <a:solidFill>
                      <a:srgbClr val="FFFFFF"/>
                    </a:solidFill>
                  </a:tcPr>
                </a:tc>
                <a:tc>
                  <a:txBody>
                    <a:bodyPr/>
                    <a:lstStyle/>
                    <a:p>
                      <a:r>
                        <a:rPr sz="1100" b="0">
                          <a:solidFill>
                            <a:srgbClr val="222222"/>
                          </a:solidFill>
                        </a:rPr>
                        <a:t>No</a:t>
                      </a:r>
                      <a:endParaRPr sz="1100" b="0">
                        <a:solidFill>
                          <a:srgbClr val="222222"/>
                        </a:solidFill>
                      </a:endParaRPr>
                    </a:p>
                  </a:txBody>
                  <a:tcPr marL="54864" marR="54864" marT="18288" marB="18288" anchor="ctr">
                    <a:solidFill>
                      <a:srgbClr val="FFFFFF"/>
                    </a:solidFill>
                  </a:tcPr>
                </a:tc>
              </a:tr>
              <a:tr h="310896">
                <a:tc>
                  <a:txBody>
                    <a:bodyPr/>
                    <a:lstStyle/>
                    <a:p>
                      <a:r>
                        <a:rPr sz="1100" b="0">
                          <a:solidFill>
                            <a:srgbClr val="222222"/>
                          </a:solidFill>
                        </a:rPr>
                        <a:t>longitude</a:t>
                      </a:r>
                      <a:endParaRPr sz="1100" b="0">
                        <a:solidFill>
                          <a:srgbClr val="222222"/>
                        </a:solidFill>
                      </a:endParaRPr>
                    </a:p>
                  </a:txBody>
                  <a:tcPr marL="54864" marR="54864" marT="18288" marB="18288" anchor="ctr">
                    <a:solidFill>
                      <a:srgbClr val="EEF2FA"/>
                    </a:solidFill>
                  </a:tcPr>
                </a:tc>
                <a:tc>
                  <a:txBody>
                    <a:bodyPr/>
                    <a:lstStyle/>
                    <a:p>
                      <a:r>
                        <a:rPr sz="1100" b="0">
                          <a:solidFill>
                            <a:srgbClr val="222222"/>
                          </a:solidFill>
                        </a:rPr>
                        <a:t>0.003</a:t>
                      </a:r>
                      <a:endParaRPr sz="1100" b="0">
                        <a:solidFill>
                          <a:srgbClr val="222222"/>
                        </a:solidFill>
                      </a:endParaRPr>
                    </a:p>
                  </a:txBody>
                  <a:tcPr marL="54864" marR="54864" marT="18288" marB="18288" anchor="ctr">
                    <a:solidFill>
                      <a:srgbClr val="EEF2FA"/>
                    </a:solidFill>
                  </a:tcPr>
                </a:tc>
                <a:tc>
                  <a:txBody>
                    <a:bodyPr/>
                    <a:lstStyle/>
                    <a:p>
                      <a:r>
                        <a:rPr sz="1100" b="0">
                          <a:solidFill>
                            <a:srgbClr val="222222"/>
                          </a:solidFill>
                        </a:rPr>
                        <a:t>No</a:t>
                      </a:r>
                      <a:endParaRPr sz="1100" b="0">
                        <a:solidFill>
                          <a:srgbClr val="222222"/>
                        </a:solidFill>
                      </a:endParaRPr>
                    </a:p>
                  </a:txBody>
                  <a:tcPr marL="54864" marR="54864" marT="18288" marB="18288" anchor="ctr">
                    <a:solidFill>
                      <a:srgbClr val="EEF2FA"/>
                    </a:solidFill>
                  </a:tcPr>
                </a:tc>
              </a:tr>
              <a:tr h="310896">
                <a:tc>
                  <a:txBody>
                    <a:bodyPr/>
                    <a:lstStyle/>
                    <a:p>
                      <a:r>
                        <a:rPr sz="1100" b="0">
                          <a:solidFill>
                            <a:srgbClr val="222222"/>
                          </a:solidFill>
                        </a:rPr>
                        <a:t>hour_sin</a:t>
                      </a:r>
                      <a:endParaRPr sz="1100" b="0">
                        <a:solidFill>
                          <a:srgbClr val="222222"/>
                        </a:solidFill>
                      </a:endParaRPr>
                    </a:p>
                  </a:txBody>
                  <a:tcPr marL="54864" marR="54864" marT="18288" marB="18288" anchor="ctr">
                    <a:solidFill>
                      <a:srgbClr val="FFFFFF"/>
                    </a:solidFill>
                  </a:tcPr>
                </a:tc>
                <a:tc>
                  <a:txBody>
                    <a:bodyPr/>
                    <a:lstStyle/>
                    <a:p>
                      <a:r>
                        <a:rPr sz="1100" b="0">
                          <a:solidFill>
                            <a:srgbClr val="222222"/>
                          </a:solidFill>
                        </a:rPr>
                        <a:t>0.179</a:t>
                      </a:r>
                      <a:endParaRPr sz="1100" b="0">
                        <a:solidFill>
                          <a:srgbClr val="222222"/>
                        </a:solidFill>
                      </a:endParaRPr>
                    </a:p>
                  </a:txBody>
                  <a:tcPr marL="54864" marR="54864" marT="18288" marB="18288" anchor="ctr">
                    <a:solidFill>
                      <a:srgbClr val="FFFFFF"/>
                    </a:solidFill>
                  </a:tcPr>
                </a:tc>
                <a:tc>
                  <a:txBody>
                    <a:bodyPr/>
                    <a:lstStyle/>
                    <a:p>
                      <a:r>
                        <a:rPr sz="1100" b="0">
                          <a:solidFill>
                            <a:srgbClr val="222222"/>
                          </a:solidFill>
                        </a:rPr>
                        <a:t>Yes</a:t>
                      </a:r>
                      <a:endParaRPr sz="1100" b="0">
                        <a:solidFill>
                          <a:srgbClr val="222222"/>
                        </a:solidFill>
                      </a:endParaRPr>
                    </a:p>
                  </a:txBody>
                  <a:tcPr marL="54864" marR="54864" marT="18288" marB="18288" anchor="ctr">
                    <a:solidFill>
                      <a:srgbClr val="FFFFFF"/>
                    </a:solidFill>
                  </a:tcPr>
                </a:tc>
              </a:tr>
              <a:tr h="310896">
                <a:tc>
                  <a:txBody>
                    <a:bodyPr/>
                    <a:lstStyle/>
                    <a:p>
                      <a:r>
                        <a:rPr sz="1100" b="0">
                          <a:solidFill>
                            <a:srgbClr val="222222"/>
                          </a:solidFill>
                        </a:rPr>
                        <a:t>hour_cos</a:t>
                      </a:r>
                      <a:endParaRPr sz="1100" b="0">
                        <a:solidFill>
                          <a:srgbClr val="222222"/>
                        </a:solidFill>
                      </a:endParaRPr>
                    </a:p>
                  </a:txBody>
                  <a:tcPr marL="54864" marR="54864" marT="18288" marB="18288" anchor="ctr">
                    <a:solidFill>
                      <a:srgbClr val="EEF2FA"/>
                    </a:solidFill>
                  </a:tcPr>
                </a:tc>
                <a:tc>
                  <a:txBody>
                    <a:bodyPr/>
                    <a:lstStyle/>
                    <a:p>
                      <a:r>
                        <a:rPr sz="1100" b="0">
                          <a:solidFill>
                            <a:srgbClr val="222222"/>
                          </a:solidFill>
                        </a:rPr>
                        <a:t>0.340</a:t>
                      </a:r>
                      <a:endParaRPr sz="1100" b="0">
                        <a:solidFill>
                          <a:srgbClr val="222222"/>
                        </a:solidFill>
                      </a:endParaRPr>
                    </a:p>
                  </a:txBody>
                  <a:tcPr marL="54864" marR="54864" marT="18288" marB="18288" anchor="ctr">
                    <a:solidFill>
                      <a:srgbClr val="EEF2FA"/>
                    </a:solidFill>
                  </a:tcPr>
                </a:tc>
                <a:tc>
                  <a:txBody>
                    <a:bodyPr/>
                    <a:lstStyle/>
                    <a:p>
                      <a:r>
                        <a:rPr sz="1100" b="0">
                          <a:solidFill>
                            <a:srgbClr val="222222"/>
                          </a:solidFill>
                        </a:rPr>
                        <a:t>Yes</a:t>
                      </a:r>
                      <a:endParaRPr sz="1100" b="0">
                        <a:solidFill>
                          <a:srgbClr val="222222"/>
                        </a:solidFill>
                      </a:endParaRPr>
                    </a:p>
                  </a:txBody>
                  <a:tcPr marL="54864" marR="54864" marT="18288" marB="18288" anchor="ctr">
                    <a:solidFill>
                      <a:srgbClr val="EEF2FA"/>
                    </a:solidFill>
                  </a:tcPr>
                </a:tc>
              </a:tr>
              <a:tr h="310896">
                <a:tc>
                  <a:txBody>
                    <a:bodyPr/>
                    <a:lstStyle/>
                    <a:p>
                      <a:r>
                        <a:rPr sz="1100" b="0">
                          <a:solidFill>
                            <a:srgbClr val="222222"/>
                          </a:solidFill>
                        </a:rPr>
                        <a:t>pm25_z</a:t>
                      </a:r>
                      <a:endParaRPr sz="1100" b="0">
                        <a:solidFill>
                          <a:srgbClr val="222222"/>
                        </a:solidFill>
                      </a:endParaRPr>
                    </a:p>
                  </a:txBody>
                  <a:tcPr marL="54864" marR="54864" marT="18288" marB="18288" anchor="ctr">
                    <a:solidFill>
                      <a:srgbClr val="FFFFFF"/>
                    </a:solidFill>
                  </a:tcPr>
                </a:tc>
                <a:tc>
                  <a:txBody>
                    <a:bodyPr/>
                    <a:lstStyle/>
                    <a:p>
                      <a:r>
                        <a:rPr sz="1100" b="0">
                          <a:solidFill>
                            <a:srgbClr val="222222"/>
                          </a:solidFill>
                        </a:rPr>
                        <a:t>0.084</a:t>
                      </a:r>
                      <a:endParaRPr sz="1100" b="0">
                        <a:solidFill>
                          <a:srgbClr val="222222"/>
                        </a:solidFill>
                      </a:endParaRPr>
                    </a:p>
                  </a:txBody>
                  <a:tcPr marL="54864" marR="54864" marT="18288" marB="18288" anchor="ctr">
                    <a:solidFill>
                      <a:srgbClr val="FFFFFF"/>
                    </a:solidFill>
                  </a:tcPr>
                </a:tc>
                <a:tc>
                  <a:txBody>
                    <a:bodyPr/>
                    <a:lstStyle/>
                    <a:p>
                      <a:r>
                        <a:rPr sz="1100" b="0">
                          <a:solidFill>
                            <a:srgbClr val="222222"/>
                          </a:solidFill>
                        </a:rPr>
                        <a:t>No</a:t>
                      </a:r>
                      <a:endParaRPr sz="1100" b="0">
                        <a:solidFill>
                          <a:srgbClr val="222222"/>
                        </a:solidFill>
                      </a:endParaRPr>
                    </a:p>
                  </a:txBody>
                  <a:tcPr marL="54864" marR="54864" marT="18288" marB="18288" anchor="ctr">
                    <a:solidFill>
                      <a:srgbClr val="FFFFFF"/>
                    </a:solidFill>
                  </a:tcPr>
                </a:tc>
              </a:tr>
              <a:tr h="310896">
                <a:tc>
                  <a:txBody>
                    <a:bodyPr/>
                    <a:lstStyle/>
                    <a:p>
                      <a:r>
                        <a:rPr sz="1100" b="0">
                          <a:solidFill>
                            <a:srgbClr val="222222"/>
                          </a:solidFill>
                        </a:rPr>
                        <a:t>prediction</a:t>
                      </a:r>
                      <a:endParaRPr sz="1100" b="0">
                        <a:solidFill>
                          <a:srgbClr val="222222"/>
                        </a:solidFill>
                      </a:endParaRPr>
                    </a:p>
                  </a:txBody>
                  <a:tcPr marL="54864" marR="54864" marT="18288" marB="18288" anchor="ctr">
                    <a:solidFill>
                      <a:srgbClr val="EEF2FA"/>
                    </a:solidFill>
                  </a:tcPr>
                </a:tc>
                <a:tc>
                  <a:txBody>
                    <a:bodyPr/>
                    <a:lstStyle/>
                    <a:p>
                      <a:r>
                        <a:rPr sz="1100" b="0">
                          <a:solidFill>
                            <a:srgbClr val="222222"/>
                          </a:solidFill>
                        </a:rPr>
                        <a:t>0.186</a:t>
                      </a:r>
                      <a:endParaRPr sz="1100" b="0">
                        <a:solidFill>
                          <a:srgbClr val="222222"/>
                        </a:solidFill>
                      </a:endParaRPr>
                    </a:p>
                  </a:txBody>
                  <a:tcPr marL="54864" marR="54864" marT="18288" marB="18288" anchor="ctr">
                    <a:solidFill>
                      <a:srgbClr val="EEF2FA"/>
                    </a:solidFill>
                  </a:tcPr>
                </a:tc>
                <a:tc>
                  <a:txBody>
                    <a:bodyPr/>
                    <a:lstStyle/>
                    <a:p>
                      <a:r>
                        <a:rPr sz="1100" b="0">
                          <a:solidFill>
                            <a:srgbClr val="222222"/>
                          </a:solidFill>
                        </a:rPr>
                        <a:t>Yes</a:t>
                      </a:r>
                      <a:endParaRPr sz="1100" b="0">
                        <a:solidFill>
                          <a:srgbClr val="222222"/>
                        </a:solidFill>
                      </a:endParaRPr>
                    </a:p>
                  </a:txBody>
                  <a:tcPr marL="54864" marR="54864" marT="18288" marB="18288" anchor="ctr">
                    <a:solidFill>
                      <a:srgbClr val="EEF2FA"/>
                    </a:solidFill>
                  </a:tcPr>
                </a:tc>
              </a:tr>
            </a:tbl>
          </a:graphicData>
        </a:graphic>
      </p:graphicFrame>
      <p:graphicFrame>
        <p:nvGraphicFramePr>
          <p:cNvPr id="4" name="Table 3"/>
          <p:cNvGraphicFramePr>
            <a:graphicFrameLocks noGrp="1"/>
          </p:cNvGraphicFramePr>
          <p:nvPr/>
        </p:nvGraphicFramePr>
        <p:xfrm>
          <a:off x="4709160" y="1920240"/>
          <a:ext cx="3291840" cy="1554480"/>
        </p:xfrm>
        <a:graphic>
          <a:graphicData uri="http://schemas.openxmlformats.org/drawingml/2006/table">
            <a:tbl>
              <a:tblPr firstRow="1" bandRow="1">
                <a:tableStyleId>{5C22544A-7EE6-4342-B048-85BDC9FD1C3A}</a:tableStyleId>
              </a:tblPr>
              <a:tblGrid>
                <a:gridCol w="1280160"/>
                <a:gridCol w="1005840"/>
                <a:gridCol w="1005840"/>
              </a:tblGrid>
              <a:tr h="310896">
                <a:tc>
                  <a:txBody>
                    <a:bodyPr/>
                    <a:lstStyle/>
                    <a:p>
                      <a:r>
                        <a:rPr sz="1100" b="1">
                          <a:solidFill>
                            <a:srgbClr val="FFFFFF"/>
                          </a:solidFill>
                        </a:rPr>
                        <a:t>Model quality</a:t>
                      </a:r>
                      <a:endParaRPr sz="1100" b="1">
                        <a:solidFill>
                          <a:srgbClr val="FFFFFF"/>
                        </a:solidFill>
                      </a:endParaRPr>
                    </a:p>
                  </a:txBody>
                  <a:tcPr marL="54864" marR="54864" marT="18288" marB="18288" anchor="ctr">
                    <a:solidFill>
                      <a:srgbClr val="0B3D91"/>
                    </a:solidFill>
                  </a:tcPr>
                </a:tc>
                <a:tc>
                  <a:txBody>
                    <a:bodyPr/>
                    <a:lstStyle/>
                    <a:p>
                      <a:r>
                        <a:rPr sz="1100" b="1">
                          <a:solidFill>
                            <a:srgbClr val="FFFFFF"/>
                          </a:solidFill>
                        </a:rPr>
                        <a:t>Reference</a:t>
                      </a:r>
                      <a:endParaRPr sz="1100" b="1">
                        <a:solidFill>
                          <a:srgbClr val="FFFFFF"/>
                        </a:solidFill>
                      </a:endParaRPr>
                    </a:p>
                  </a:txBody>
                  <a:tcPr marL="54864" marR="54864" marT="18288" marB="18288" anchor="ctr">
                    <a:solidFill>
                      <a:srgbClr val="0B3D91"/>
                    </a:solidFill>
                  </a:tcPr>
                </a:tc>
                <a:tc>
                  <a:txBody>
                    <a:bodyPr/>
                    <a:lstStyle/>
                    <a:p>
                      <a:r>
                        <a:rPr sz="1100" b="1">
                          <a:solidFill>
                            <a:srgbClr val="FFFFFF"/>
                          </a:solidFill>
                        </a:rPr>
                        <a:t>Current</a:t>
                      </a:r>
                      <a:endParaRPr sz="1100" b="1">
                        <a:solidFill>
                          <a:srgbClr val="FFFFFF"/>
                        </a:solidFill>
                      </a:endParaRPr>
                    </a:p>
                  </a:txBody>
                  <a:tcPr marL="54864" marR="54864" marT="18288" marB="18288" anchor="ctr">
                    <a:solidFill>
                      <a:srgbClr val="0B3D91"/>
                    </a:solidFill>
                  </a:tcPr>
                </a:tc>
              </a:tr>
              <a:tr h="310896">
                <a:tc>
                  <a:txBody>
                    <a:bodyPr/>
                    <a:lstStyle/>
                    <a:p>
                      <a:r>
                        <a:rPr sz="1100" b="0">
                          <a:solidFill>
                            <a:srgbClr val="222222"/>
                          </a:solidFill>
                        </a:rPr>
                        <a:t>RMSE</a:t>
                      </a:r>
                      <a:endParaRPr sz="1100" b="0">
                        <a:solidFill>
                          <a:srgbClr val="222222"/>
                        </a:solidFill>
                      </a:endParaRPr>
                    </a:p>
                  </a:txBody>
                  <a:tcPr marL="54864" marR="54864" marT="18288" marB="18288" anchor="ctr">
                    <a:solidFill>
                      <a:srgbClr val="FFFFFF"/>
                    </a:solidFill>
                  </a:tcPr>
                </a:tc>
                <a:tc>
                  <a:txBody>
                    <a:bodyPr/>
                    <a:lstStyle/>
                    <a:p>
                      <a:r>
                        <a:rPr sz="1100" b="0">
                          <a:solidFill>
                            <a:srgbClr val="222222"/>
                          </a:solidFill>
                        </a:rPr>
                        <a:t>0.730</a:t>
                      </a:r>
                      <a:endParaRPr sz="1100" b="0">
                        <a:solidFill>
                          <a:srgbClr val="222222"/>
                        </a:solidFill>
                      </a:endParaRPr>
                    </a:p>
                  </a:txBody>
                  <a:tcPr marL="54864" marR="54864" marT="18288" marB="18288" anchor="ctr">
                    <a:solidFill>
                      <a:srgbClr val="FFFFFF"/>
                    </a:solidFill>
                  </a:tcPr>
                </a:tc>
                <a:tc>
                  <a:txBody>
                    <a:bodyPr/>
                    <a:lstStyle/>
                    <a:p>
                      <a:r>
                        <a:rPr sz="1100" b="0">
                          <a:solidFill>
                            <a:srgbClr val="222222"/>
                          </a:solidFill>
                        </a:rPr>
                        <a:t>0.747</a:t>
                      </a:r>
                      <a:endParaRPr sz="1100" b="0">
                        <a:solidFill>
                          <a:srgbClr val="222222"/>
                        </a:solidFill>
                      </a:endParaRPr>
                    </a:p>
                  </a:txBody>
                  <a:tcPr marL="54864" marR="54864" marT="18288" marB="18288" anchor="ctr">
                    <a:solidFill>
                      <a:srgbClr val="FFFFFF"/>
                    </a:solidFill>
                  </a:tcPr>
                </a:tc>
              </a:tr>
              <a:tr h="310896">
                <a:tc>
                  <a:txBody>
                    <a:bodyPr/>
                    <a:lstStyle/>
                    <a:p>
                      <a:r>
                        <a:rPr sz="1100" b="0">
                          <a:solidFill>
                            <a:srgbClr val="222222"/>
                          </a:solidFill>
                        </a:rPr>
                        <a:t>MAE</a:t>
                      </a:r>
                      <a:endParaRPr sz="1100" b="0">
                        <a:solidFill>
                          <a:srgbClr val="222222"/>
                        </a:solidFill>
                      </a:endParaRPr>
                    </a:p>
                  </a:txBody>
                  <a:tcPr marL="54864" marR="54864" marT="18288" marB="18288" anchor="ctr">
                    <a:solidFill>
                      <a:srgbClr val="EEF2FA"/>
                    </a:solidFill>
                  </a:tcPr>
                </a:tc>
                <a:tc>
                  <a:txBody>
                    <a:bodyPr/>
                    <a:lstStyle/>
                    <a:p>
                      <a:r>
                        <a:rPr sz="1100" b="0">
                          <a:solidFill>
                            <a:srgbClr val="222222"/>
                          </a:solidFill>
                        </a:rPr>
                        <a:t>0.470</a:t>
                      </a:r>
                      <a:endParaRPr sz="1100" b="0">
                        <a:solidFill>
                          <a:srgbClr val="222222"/>
                        </a:solidFill>
                      </a:endParaRPr>
                    </a:p>
                  </a:txBody>
                  <a:tcPr marL="54864" marR="54864" marT="18288" marB="18288" anchor="ctr">
                    <a:solidFill>
                      <a:srgbClr val="EEF2FA"/>
                    </a:solidFill>
                  </a:tcPr>
                </a:tc>
                <a:tc>
                  <a:txBody>
                    <a:bodyPr/>
                    <a:lstStyle/>
                    <a:p>
                      <a:r>
                        <a:rPr sz="1100" b="0">
                          <a:solidFill>
                            <a:srgbClr val="222222"/>
                          </a:solidFill>
                        </a:rPr>
                        <a:t>0.510</a:t>
                      </a:r>
                      <a:endParaRPr sz="1100" b="0">
                        <a:solidFill>
                          <a:srgbClr val="222222"/>
                        </a:solidFill>
                      </a:endParaRPr>
                    </a:p>
                  </a:txBody>
                  <a:tcPr marL="54864" marR="54864" marT="18288" marB="18288" anchor="ctr">
                    <a:solidFill>
                      <a:srgbClr val="EEF2FA"/>
                    </a:solidFill>
                  </a:tcPr>
                </a:tc>
              </a:tr>
              <a:tr h="310896">
                <a:tc>
                  <a:txBody>
                    <a:bodyPr/>
                    <a:lstStyle/>
                    <a:p>
                      <a:r>
                        <a:rPr sz="1100" b="0">
                          <a:solidFill>
                            <a:srgbClr val="222222"/>
                          </a:solidFill>
                        </a:rPr>
                        <a:t>Mean error</a:t>
                      </a:r>
                      <a:endParaRPr sz="1100" b="0">
                        <a:solidFill>
                          <a:srgbClr val="222222"/>
                        </a:solidFill>
                      </a:endParaRPr>
                    </a:p>
                  </a:txBody>
                  <a:tcPr marL="54864" marR="54864" marT="18288" marB="18288" anchor="ctr">
                    <a:solidFill>
                      <a:srgbClr val="FFFFFF"/>
                    </a:solidFill>
                  </a:tcPr>
                </a:tc>
                <a:tc>
                  <a:txBody>
                    <a:bodyPr/>
                    <a:lstStyle/>
                    <a:p>
                      <a:r>
                        <a:rPr sz="1100" b="0">
                          <a:solidFill>
                            <a:srgbClr val="222222"/>
                          </a:solidFill>
                        </a:rPr>
                        <a:t>-0.033</a:t>
                      </a:r>
                      <a:endParaRPr sz="1100" b="0">
                        <a:solidFill>
                          <a:srgbClr val="222222"/>
                        </a:solidFill>
                      </a:endParaRPr>
                    </a:p>
                  </a:txBody>
                  <a:tcPr marL="54864" marR="54864" marT="18288" marB="18288" anchor="ctr">
                    <a:solidFill>
                      <a:srgbClr val="FFFFFF"/>
                    </a:solidFill>
                  </a:tcPr>
                </a:tc>
                <a:tc>
                  <a:txBody>
                    <a:bodyPr/>
                    <a:lstStyle/>
                    <a:p>
                      <a:r>
                        <a:rPr sz="1100" b="0">
                          <a:solidFill>
                            <a:srgbClr val="222222"/>
                          </a:solidFill>
                        </a:rPr>
                        <a:t>0.124</a:t>
                      </a:r>
                      <a:endParaRPr sz="1100" b="0">
                        <a:solidFill>
                          <a:srgbClr val="222222"/>
                        </a:solidFill>
                      </a:endParaRPr>
                    </a:p>
                  </a:txBody>
                  <a:tcPr marL="54864" marR="54864" marT="18288" marB="18288" anchor="ctr">
                    <a:solidFill>
                      <a:srgbClr val="FFFFFF"/>
                    </a:solidFill>
                  </a:tcPr>
                </a:tc>
              </a:tr>
              <a:tr h="310896">
                <a:tc>
                  <a:txBody>
                    <a:bodyPr/>
                    <a:lstStyle/>
                    <a:p>
                      <a:r>
                        <a:rPr sz="1100" b="0">
                          <a:solidFill>
                            <a:srgbClr val="222222"/>
                          </a:solidFill>
                        </a:rPr>
                        <a:t>R²</a:t>
                      </a:r>
                      <a:endParaRPr sz="1100" b="0">
                        <a:solidFill>
                          <a:srgbClr val="222222"/>
                        </a:solidFill>
                      </a:endParaRPr>
                    </a:p>
                  </a:txBody>
                  <a:tcPr marL="54864" marR="54864" marT="18288" marB="18288" anchor="ctr">
                    <a:solidFill>
                      <a:srgbClr val="EEF2FA"/>
                    </a:solidFill>
                  </a:tcPr>
                </a:tc>
                <a:tc>
                  <a:txBody>
                    <a:bodyPr/>
                    <a:lstStyle/>
                    <a:p>
                      <a:r>
                        <a:rPr sz="1100" b="0">
                          <a:solidFill>
                            <a:srgbClr val="222222"/>
                          </a:solidFill>
                        </a:rPr>
                        <a:t>0.538</a:t>
                      </a:r>
                      <a:endParaRPr sz="1100" b="0">
                        <a:solidFill>
                          <a:srgbClr val="222222"/>
                        </a:solidFill>
                      </a:endParaRPr>
                    </a:p>
                  </a:txBody>
                  <a:tcPr marL="54864" marR="54864" marT="18288" marB="18288" anchor="ctr">
                    <a:solidFill>
                      <a:srgbClr val="EEF2FA"/>
                    </a:solidFill>
                  </a:tcPr>
                </a:tc>
                <a:tc>
                  <a:txBody>
                    <a:bodyPr/>
                    <a:lstStyle/>
                    <a:p>
                      <a:r>
                        <a:rPr sz="1100" b="0">
                          <a:solidFill>
                            <a:srgbClr val="222222"/>
                          </a:solidFill>
                        </a:rPr>
                        <a:t>0.367</a:t>
                      </a:r>
                      <a:endParaRPr sz="1100" b="0">
                        <a:solidFill>
                          <a:srgbClr val="222222"/>
                        </a:solidFill>
                      </a:endParaRPr>
                    </a:p>
                  </a:txBody>
                  <a:tcPr marL="54864" marR="54864" marT="18288" marB="18288" anchor="ctr">
                    <a:solidFill>
                      <a:srgbClr val="EEF2FA"/>
                    </a:solidFill>
                  </a:tcPr>
                </a:tc>
              </a:tr>
            </a:tbl>
          </a:graphicData>
        </a:graphic>
      </p:graphicFrame>
      <p:graphicFrame>
        <p:nvGraphicFramePr>
          <p:cNvPr id="5" name="Table 4"/>
          <p:cNvGraphicFramePr>
            <a:graphicFrameLocks noGrp="1"/>
          </p:cNvGraphicFramePr>
          <p:nvPr/>
        </p:nvGraphicFramePr>
        <p:xfrm>
          <a:off x="8275320" y="1920240"/>
          <a:ext cx="3246120" cy="1865376"/>
        </p:xfrm>
        <a:graphic>
          <a:graphicData uri="http://schemas.openxmlformats.org/drawingml/2006/table">
            <a:tbl>
              <a:tblPr firstRow="1" bandRow="1">
                <a:tableStyleId>{5C22544A-7EE6-4342-B048-85BDC9FD1C3A}</a:tableStyleId>
              </a:tblPr>
              <a:tblGrid>
                <a:gridCol w="1371600"/>
                <a:gridCol w="960120"/>
                <a:gridCol w="914400"/>
              </a:tblGrid>
              <a:tr h="310896">
                <a:tc>
                  <a:txBody>
                    <a:bodyPr/>
                    <a:lstStyle/>
                    <a:p>
                      <a:r>
                        <a:rPr sz="1100" b="1">
                          <a:solidFill>
                            <a:srgbClr val="FFFFFF"/>
                          </a:solidFill>
                        </a:rPr>
                        <a:t>Run B: Jan vs Jun</a:t>
                      </a:r>
                      <a:endParaRPr sz="1100" b="1">
                        <a:solidFill>
                          <a:srgbClr val="FFFFFF"/>
                        </a:solidFill>
                      </a:endParaRPr>
                    </a:p>
                  </a:txBody>
                  <a:tcPr marL="54864" marR="54864" marT="18288" marB="18288" anchor="ctr">
                    <a:solidFill>
                      <a:srgbClr val="0B3D91"/>
                    </a:solidFill>
                  </a:tcPr>
                </a:tc>
                <a:tc>
                  <a:txBody>
                    <a:bodyPr/>
                    <a:lstStyle/>
                    <a:p>
                      <a:r>
                        <a:rPr sz="1100" b="1">
                          <a:solidFill>
                            <a:srgbClr val="FFFFFF"/>
                          </a:solidFill>
                        </a:rPr>
                        <a:t>Distance</a:t>
                      </a:r>
                      <a:endParaRPr sz="1100" b="1">
                        <a:solidFill>
                          <a:srgbClr val="FFFFFF"/>
                        </a:solidFill>
                      </a:endParaRPr>
                    </a:p>
                  </a:txBody>
                  <a:tcPr marL="54864" marR="54864" marT="18288" marB="18288" anchor="ctr">
                    <a:solidFill>
                      <a:srgbClr val="0B3D91"/>
                    </a:solidFill>
                  </a:tcPr>
                </a:tc>
                <a:tc>
                  <a:txBody>
                    <a:bodyPr/>
                    <a:lstStyle/>
                    <a:p>
                      <a:r>
                        <a:rPr sz="1100" b="1">
                          <a:solidFill>
                            <a:srgbClr val="FFFFFF"/>
                          </a:solidFill>
                        </a:rPr>
                        <a:t>Drift?</a:t>
                      </a:r>
                      <a:endParaRPr sz="1100" b="1">
                        <a:solidFill>
                          <a:srgbClr val="FFFFFF"/>
                        </a:solidFill>
                      </a:endParaRPr>
                    </a:p>
                  </a:txBody>
                  <a:tcPr marL="54864" marR="54864" marT="18288" marB="18288" anchor="ctr">
                    <a:solidFill>
                      <a:srgbClr val="0B3D91"/>
                    </a:solidFill>
                  </a:tcPr>
                </a:tc>
              </a:tr>
              <a:tr h="310896">
                <a:tc>
                  <a:txBody>
                    <a:bodyPr/>
                    <a:lstStyle/>
                    <a:p>
                      <a:r>
                        <a:rPr sz="1100" b="0">
                          <a:solidFill>
                            <a:srgbClr val="222222"/>
                          </a:solidFill>
                        </a:rPr>
                        <a:t>temp</a:t>
                      </a:r>
                      <a:endParaRPr sz="1100" b="0">
                        <a:solidFill>
                          <a:srgbClr val="222222"/>
                        </a:solidFill>
                      </a:endParaRPr>
                    </a:p>
                  </a:txBody>
                  <a:tcPr marL="54864" marR="54864" marT="18288" marB="18288" anchor="ctr">
                    <a:solidFill>
                      <a:srgbClr val="FFFFFF"/>
                    </a:solidFill>
                  </a:tcPr>
                </a:tc>
                <a:tc>
                  <a:txBody>
                    <a:bodyPr/>
                    <a:lstStyle/>
                    <a:p>
                      <a:r>
                        <a:rPr sz="1100" b="0">
                          <a:solidFill>
                            <a:srgbClr val="222222"/>
                          </a:solidFill>
                        </a:rPr>
                        <a:t>0.368</a:t>
                      </a:r>
                      <a:endParaRPr sz="1100" b="0">
                        <a:solidFill>
                          <a:srgbClr val="222222"/>
                        </a:solidFill>
                      </a:endParaRPr>
                    </a:p>
                  </a:txBody>
                  <a:tcPr marL="54864" marR="54864" marT="18288" marB="18288" anchor="ctr">
                    <a:solidFill>
                      <a:srgbClr val="FFFFFF"/>
                    </a:solidFill>
                  </a:tcPr>
                </a:tc>
                <a:tc>
                  <a:txBody>
                    <a:bodyPr/>
                    <a:lstStyle/>
                    <a:p>
                      <a:r>
                        <a:rPr sz="1100" b="0">
                          <a:solidFill>
                            <a:srgbClr val="222222"/>
                          </a:solidFill>
                        </a:rPr>
                        <a:t>Yes</a:t>
                      </a:r>
                      <a:endParaRPr sz="1100" b="0">
                        <a:solidFill>
                          <a:srgbClr val="222222"/>
                        </a:solidFill>
                      </a:endParaRPr>
                    </a:p>
                  </a:txBody>
                  <a:tcPr marL="54864" marR="54864" marT="18288" marB="18288" anchor="ctr">
                    <a:solidFill>
                      <a:srgbClr val="FFFFFF"/>
                    </a:solidFill>
                  </a:tcPr>
                </a:tc>
              </a:tr>
              <a:tr h="310896">
                <a:tc>
                  <a:txBody>
                    <a:bodyPr/>
                    <a:lstStyle/>
                    <a:p>
                      <a:r>
                        <a:rPr sz="1100" b="0">
                          <a:solidFill>
                            <a:srgbClr val="222222"/>
                          </a:solidFill>
                        </a:rPr>
                        <a:t>humidity</a:t>
                      </a:r>
                      <a:endParaRPr sz="1100" b="0">
                        <a:solidFill>
                          <a:srgbClr val="222222"/>
                        </a:solidFill>
                      </a:endParaRPr>
                    </a:p>
                  </a:txBody>
                  <a:tcPr marL="54864" marR="54864" marT="18288" marB="18288" anchor="ctr">
                    <a:solidFill>
                      <a:srgbClr val="EEF2FA"/>
                    </a:solidFill>
                  </a:tcPr>
                </a:tc>
                <a:tc>
                  <a:txBody>
                    <a:bodyPr/>
                    <a:lstStyle/>
                    <a:p>
                      <a:r>
                        <a:rPr sz="1100" b="0">
                          <a:solidFill>
                            <a:srgbClr val="222222"/>
                          </a:solidFill>
                        </a:rPr>
                        <a:t>0.588</a:t>
                      </a:r>
                      <a:endParaRPr sz="1100" b="0">
                        <a:solidFill>
                          <a:srgbClr val="222222"/>
                        </a:solidFill>
                      </a:endParaRPr>
                    </a:p>
                  </a:txBody>
                  <a:tcPr marL="54864" marR="54864" marT="18288" marB="18288" anchor="ctr">
                    <a:solidFill>
                      <a:srgbClr val="EEF2FA"/>
                    </a:solidFill>
                  </a:tcPr>
                </a:tc>
                <a:tc>
                  <a:txBody>
                    <a:bodyPr/>
                    <a:lstStyle/>
                    <a:p>
                      <a:r>
                        <a:rPr sz="1100" b="0">
                          <a:solidFill>
                            <a:srgbClr val="222222"/>
                          </a:solidFill>
                        </a:rPr>
                        <a:t>Yes</a:t>
                      </a:r>
                      <a:endParaRPr sz="1100" b="0">
                        <a:solidFill>
                          <a:srgbClr val="222222"/>
                        </a:solidFill>
                      </a:endParaRPr>
                    </a:p>
                  </a:txBody>
                  <a:tcPr marL="54864" marR="54864" marT="18288" marB="18288" anchor="ctr">
                    <a:solidFill>
                      <a:srgbClr val="EEF2FA"/>
                    </a:solidFill>
                  </a:tcPr>
                </a:tc>
              </a:tr>
              <a:tr h="310896">
                <a:tc>
                  <a:txBody>
                    <a:bodyPr/>
                    <a:lstStyle/>
                    <a:p>
                      <a:r>
                        <a:rPr sz="1100" b="0">
                          <a:solidFill>
                            <a:srgbClr val="222222"/>
                          </a:solidFill>
                        </a:rPr>
                        <a:t>hour_sin</a:t>
                      </a:r>
                      <a:endParaRPr sz="1100" b="0">
                        <a:solidFill>
                          <a:srgbClr val="222222"/>
                        </a:solidFill>
                      </a:endParaRPr>
                    </a:p>
                  </a:txBody>
                  <a:tcPr marL="54864" marR="54864" marT="18288" marB="18288" anchor="ctr">
                    <a:solidFill>
                      <a:srgbClr val="FFFFFF"/>
                    </a:solidFill>
                  </a:tcPr>
                </a:tc>
                <a:tc>
                  <a:txBody>
                    <a:bodyPr/>
                    <a:lstStyle/>
                    <a:p>
                      <a:r>
                        <a:rPr sz="1100" b="0">
                          <a:solidFill>
                            <a:srgbClr val="222222"/>
                          </a:solidFill>
                        </a:rPr>
                        <a:t>0.026</a:t>
                      </a:r>
                      <a:endParaRPr sz="1100" b="0">
                        <a:solidFill>
                          <a:srgbClr val="222222"/>
                        </a:solidFill>
                      </a:endParaRPr>
                    </a:p>
                  </a:txBody>
                  <a:tcPr marL="54864" marR="54864" marT="18288" marB="18288" anchor="ctr">
                    <a:solidFill>
                      <a:srgbClr val="FFFFFF"/>
                    </a:solidFill>
                  </a:tcPr>
                </a:tc>
                <a:tc>
                  <a:txBody>
                    <a:bodyPr/>
                    <a:lstStyle/>
                    <a:p>
                      <a:r>
                        <a:rPr sz="1100" b="0">
                          <a:solidFill>
                            <a:srgbClr val="222222"/>
                          </a:solidFill>
                        </a:rPr>
                        <a:t>No</a:t>
                      </a:r>
                      <a:endParaRPr sz="1100" b="0">
                        <a:solidFill>
                          <a:srgbClr val="222222"/>
                        </a:solidFill>
                      </a:endParaRPr>
                    </a:p>
                  </a:txBody>
                  <a:tcPr marL="54864" marR="54864" marT="18288" marB="18288" anchor="ctr">
                    <a:solidFill>
                      <a:srgbClr val="FFFFFF"/>
                    </a:solidFill>
                  </a:tcPr>
                </a:tc>
              </a:tr>
              <a:tr h="310896">
                <a:tc>
                  <a:txBody>
                    <a:bodyPr/>
                    <a:lstStyle/>
                    <a:p>
                      <a:r>
                        <a:rPr sz="1100" b="0">
                          <a:solidFill>
                            <a:srgbClr val="222222"/>
                          </a:solidFill>
                        </a:rPr>
                        <a:t>hour_cos</a:t>
                      </a:r>
                      <a:endParaRPr sz="1100" b="0">
                        <a:solidFill>
                          <a:srgbClr val="222222"/>
                        </a:solidFill>
                      </a:endParaRPr>
                    </a:p>
                  </a:txBody>
                  <a:tcPr marL="54864" marR="54864" marT="18288" marB="18288" anchor="ctr">
                    <a:solidFill>
                      <a:srgbClr val="EEF2FA"/>
                    </a:solidFill>
                  </a:tcPr>
                </a:tc>
                <a:tc>
                  <a:txBody>
                    <a:bodyPr/>
                    <a:lstStyle/>
                    <a:p>
                      <a:r>
                        <a:rPr sz="1100" b="0">
                          <a:solidFill>
                            <a:srgbClr val="222222"/>
                          </a:solidFill>
                        </a:rPr>
                        <a:t>0.018</a:t>
                      </a:r>
                      <a:endParaRPr sz="1100" b="0">
                        <a:solidFill>
                          <a:srgbClr val="222222"/>
                        </a:solidFill>
                      </a:endParaRPr>
                    </a:p>
                  </a:txBody>
                  <a:tcPr marL="54864" marR="54864" marT="18288" marB="18288" anchor="ctr">
                    <a:solidFill>
                      <a:srgbClr val="EEF2FA"/>
                    </a:solidFill>
                  </a:tcPr>
                </a:tc>
                <a:tc>
                  <a:txBody>
                    <a:bodyPr/>
                    <a:lstStyle/>
                    <a:p>
                      <a:r>
                        <a:rPr sz="1100" b="0">
                          <a:solidFill>
                            <a:srgbClr val="222222"/>
                          </a:solidFill>
                        </a:rPr>
                        <a:t>No</a:t>
                      </a:r>
                      <a:endParaRPr sz="1100" b="0">
                        <a:solidFill>
                          <a:srgbClr val="222222"/>
                        </a:solidFill>
                      </a:endParaRPr>
                    </a:p>
                  </a:txBody>
                  <a:tcPr marL="54864" marR="54864" marT="18288" marB="18288" anchor="ctr">
                    <a:solidFill>
                      <a:srgbClr val="EEF2FA"/>
                    </a:solidFill>
                  </a:tcPr>
                </a:tc>
              </a:tr>
              <a:tr h="310896">
                <a:tc>
                  <a:txBody>
                    <a:bodyPr/>
                    <a:lstStyle/>
                    <a:p>
                      <a:r>
                        <a:rPr sz="1100" b="0">
                          <a:solidFill>
                            <a:srgbClr val="222222"/>
                          </a:solidFill>
                        </a:rPr>
                        <a:t>pm25_z</a:t>
                      </a:r>
                      <a:endParaRPr sz="1100" b="0">
                        <a:solidFill>
                          <a:srgbClr val="222222"/>
                        </a:solidFill>
                      </a:endParaRPr>
                    </a:p>
                  </a:txBody>
                  <a:tcPr marL="54864" marR="54864" marT="18288" marB="18288" anchor="ctr">
                    <a:solidFill>
                      <a:srgbClr val="FFFFFF"/>
                    </a:solidFill>
                  </a:tcPr>
                </a:tc>
                <a:tc>
                  <a:txBody>
                    <a:bodyPr/>
                    <a:lstStyle/>
                    <a:p>
                      <a:r>
                        <a:rPr sz="1100" b="0">
                          <a:solidFill>
                            <a:srgbClr val="222222"/>
                          </a:solidFill>
                        </a:rPr>
                        <a:t>0.787</a:t>
                      </a:r>
                      <a:endParaRPr sz="1100" b="0">
                        <a:solidFill>
                          <a:srgbClr val="222222"/>
                        </a:solidFill>
                      </a:endParaRPr>
                    </a:p>
                  </a:txBody>
                  <a:tcPr marL="54864" marR="54864" marT="18288" marB="18288" anchor="ctr">
                    <a:solidFill>
                      <a:srgbClr val="FFFFFF"/>
                    </a:solidFill>
                  </a:tcPr>
                </a:tc>
                <a:tc>
                  <a:txBody>
                    <a:bodyPr/>
                    <a:lstStyle/>
                    <a:p>
                      <a:r>
                        <a:rPr sz="1100" b="0">
                          <a:solidFill>
                            <a:srgbClr val="222222"/>
                          </a:solidFill>
                        </a:rPr>
                        <a:t>Yes</a:t>
                      </a:r>
                      <a:endParaRPr sz="1100" b="0">
                        <a:solidFill>
                          <a:srgbClr val="222222"/>
                        </a:solidFill>
                      </a:endParaRPr>
                    </a:p>
                  </a:txBody>
                  <a:tcPr marL="54864" marR="54864" marT="18288" marB="18288" anchor="ctr">
                    <a:solidFill>
                      <a:srgbClr val="FFFFFF"/>
                    </a:solidFill>
                  </a:tcPr>
                </a:tc>
              </a:tr>
            </a:tbl>
          </a:graphicData>
        </a:graphic>
      </p:graphicFrame>
      <p:sp>
        <p:nvSpPr>
          <p:cNvPr id="6" name="TextBox 5"/>
          <p:cNvSpPr txBox="1"/>
          <p:nvPr/>
        </p:nvSpPr>
        <p:spPr>
          <a:xfrm>
            <a:off x="4709160" y="3657600"/>
            <a:ext cx="6812280" cy="2194560"/>
          </a:xfrm>
          <a:prstGeom prst="rect">
            <a:avLst/>
          </a:prstGeom>
          <a:noFill/>
        </p:spPr>
        <p:txBody>
          <a:bodyPr wrap="square" lIns="45720" tIns="27432" rIns="45720" bIns="27432" anchor="t">
            <a:spAutoFit/>
          </a:bodyPr>
          <a:lstStyle/>
          <a:p>
            <a:pPr algn="l">
              <a:spcAft>
                <a:spcPts val="600"/>
              </a:spcAft>
            </a:pPr>
            <a:r>
              <a:rPr sz="1500" b="1" i="0">
                <a:solidFill>
                  <a:srgbClr val="0B3D91"/>
                </a:solidFill>
              </a:rPr>
              <a:t>How to read it</a:t>
            </a:r>
            <a:endParaRPr sz="1500" b="1" i="0">
              <a:solidFill>
                <a:srgbClr val="0B3D91"/>
              </a:solidFill>
            </a:endParaRPr>
          </a:p>
          <a:p>
            <a:pPr algn="l">
              <a:spcAft>
                <a:spcPts val="600"/>
              </a:spcAft>
            </a:pPr>
            <a:r>
              <a:rPr sz="1200" b="0" i="0">
                <a:solidFill>
                  <a:srgbClr val="222222"/>
                </a:solidFill>
              </a:rPr>
              <a:t>• Wasserstein distance &gt; 0.1 (or K-S p &lt; 0.05 on small samples) → column drifted; dataset drifts when ≥ 50 % of columns drift.</a:t>
            </a:r>
            <a:endParaRPr sz="1200" b="0" i="0">
              <a:solidFill>
                <a:srgbClr val="222222"/>
              </a:solidFill>
            </a:endParaRPr>
          </a:p>
          <a:p>
            <a:pPr algn="l">
              <a:spcAft>
                <a:spcPts val="600"/>
              </a:spcAft>
            </a:pPr>
            <a:r>
              <a:rPr sz="1200" b="0" i="0">
                <a:solidFill>
                  <a:srgbClr val="222222"/>
                </a:solidFill>
              </a:rPr>
              <a:t>• Run A: 62 % of columns drifted (weather, hour), the target did not, and RMSE moved only +0.017. R² fell because the hold-out has less variance, not because errors grew: keep watching, no retrain yet.</a:t>
            </a:r>
            <a:endParaRPr sz="1200" b="0" i="0">
              <a:solidFill>
                <a:srgbClr val="222222"/>
              </a:solidFill>
            </a:endParaRPr>
          </a:p>
          <a:p>
            <a:pPr algn="l">
              <a:spcAft>
                <a:spcPts val="600"/>
              </a:spcAft>
            </a:pPr>
            <a:r>
              <a:rPr sz="1200" b="0" i="0">
                <a:solidFill>
                  <a:srgbClr val="D7014D"/>
                </a:solidFill>
              </a:rPr>
              <a:t>• Run B: PM2.5 distance 0.79 between January and June → retrain with recent data, or roll back to a saved model version.</a:t>
            </a:r>
            <a:endParaRPr sz="1200" b="0" i="0">
              <a:solidFill>
                <a:srgbClr val="D7014D"/>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5800" y="685800"/>
            <a:ext cx="9052560" cy="777240"/>
          </a:xfrm>
        </p:spPr>
        <p:txBody>
          <a:bodyPr anchor="ctr"/>
          <a:lstStyle/>
          <a:p>
            <a:r>
              <a:rPr sz="3000"/>
              <a:t>Limitations and next steps</a:t>
            </a:r>
            <a:endParaRPr sz="3000"/>
          </a:p>
        </p:txBody>
      </p:sp>
      <p:sp>
        <p:nvSpPr>
          <p:cNvPr id="3" name="Rounded Rectangle 2"/>
          <p:cNvSpPr/>
          <p:nvPr/>
        </p:nvSpPr>
        <p:spPr>
          <a:xfrm>
            <a:off x="685800" y="1920240"/>
            <a:ext cx="5303520" cy="178308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057400"/>
            <a:ext cx="4937760" cy="1554480"/>
          </a:xfrm>
          <a:prstGeom prst="rect">
            <a:avLst/>
          </a:prstGeom>
          <a:noFill/>
        </p:spPr>
        <p:txBody>
          <a:bodyPr wrap="square" lIns="45720" tIns="27432" rIns="45720" bIns="27432" anchor="t">
            <a:spAutoFit/>
          </a:bodyPr>
          <a:lstStyle/>
          <a:p>
            <a:pPr algn="l">
              <a:spcAft>
                <a:spcPts val="600"/>
              </a:spcAft>
            </a:pPr>
            <a:r>
              <a:rPr sz="1600" b="1" i="0">
                <a:solidFill>
                  <a:srgbClr val="D7014D"/>
                </a:solidFill>
              </a:rPr>
              <a:t>Only 8 days of data</a:t>
            </a:r>
            <a:endParaRPr sz="1600" b="1" i="0">
              <a:solidFill>
                <a:srgbClr val="D7014D"/>
              </a:solidFill>
            </a:endParaRPr>
          </a:p>
          <a:p>
            <a:pPr algn="l">
              <a:spcAft>
                <a:spcPts val="600"/>
              </a:spcAft>
            </a:pPr>
            <a:r>
              <a:rPr sz="1300" b="0" i="0">
                <a:solidFill>
                  <a:srgbClr val="222222"/>
                </a:solidFill>
              </a:rPr>
              <a:t>Seasonality and weekday effects cannot be learnt; August forecasts assume June-like conditions.</a:t>
            </a:r>
            <a:endParaRPr sz="1300" b="0" i="0">
              <a:solidFill>
                <a:srgbClr val="222222"/>
              </a:solidFill>
            </a:endParaRPr>
          </a:p>
        </p:txBody>
      </p:sp>
      <p:sp>
        <p:nvSpPr>
          <p:cNvPr id="5" name="Rounded Rectangle 4"/>
          <p:cNvSpPr/>
          <p:nvPr/>
        </p:nvSpPr>
        <p:spPr>
          <a:xfrm>
            <a:off x="6172200" y="1920240"/>
            <a:ext cx="5303520" cy="178308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5080" y="2057400"/>
            <a:ext cx="4937760" cy="1554480"/>
          </a:xfrm>
          <a:prstGeom prst="rect">
            <a:avLst/>
          </a:prstGeom>
          <a:noFill/>
        </p:spPr>
        <p:txBody>
          <a:bodyPr wrap="square" lIns="45720" tIns="27432" rIns="45720" bIns="27432" anchor="t">
            <a:spAutoFit/>
          </a:bodyPr>
          <a:lstStyle/>
          <a:p>
            <a:pPr algn="l">
              <a:spcAft>
                <a:spcPts val="600"/>
              </a:spcAft>
            </a:pPr>
            <a:r>
              <a:rPr sz="1600" b="1" i="0">
                <a:solidFill>
                  <a:srgbClr val="0B3D91"/>
                </a:solidFill>
              </a:rPr>
              <a:t>No future weather</a:t>
            </a:r>
            <a:endParaRPr sz="1600" b="1" i="0">
              <a:solidFill>
                <a:srgbClr val="0B3D91"/>
              </a:solidFill>
            </a:endParaRPr>
          </a:p>
          <a:p>
            <a:pPr algn="l">
              <a:spcAft>
                <a:spcPts val="600"/>
              </a:spcAft>
            </a:pPr>
            <a:r>
              <a:rPr sz="1300" b="0" i="0">
                <a:solidFill>
                  <a:srgbClr val="222222"/>
                </a:solidFill>
              </a:rPr>
              <a:t>Temp/RH for August use hour-of-day climatology; real deployment should use a forecast API.</a:t>
            </a:r>
            <a:endParaRPr sz="1300" b="0" i="0">
              <a:solidFill>
                <a:srgbClr val="222222"/>
              </a:solidFill>
            </a:endParaRPr>
          </a:p>
        </p:txBody>
      </p:sp>
      <p:sp>
        <p:nvSpPr>
          <p:cNvPr id="7" name="Rounded Rectangle 6"/>
          <p:cNvSpPr/>
          <p:nvPr/>
        </p:nvSpPr>
        <p:spPr>
          <a:xfrm>
            <a:off x="685800" y="3886200"/>
            <a:ext cx="5303520" cy="178308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023360"/>
            <a:ext cx="4937760" cy="1554480"/>
          </a:xfrm>
          <a:prstGeom prst="rect">
            <a:avLst/>
          </a:prstGeom>
          <a:noFill/>
        </p:spPr>
        <p:txBody>
          <a:bodyPr wrap="square" lIns="45720" tIns="27432" rIns="45720" bIns="27432" anchor="t">
            <a:spAutoFit/>
          </a:bodyPr>
          <a:lstStyle/>
          <a:p>
            <a:pPr algn="l">
              <a:spcAft>
                <a:spcPts val="600"/>
              </a:spcAft>
            </a:pPr>
            <a:r>
              <a:rPr sz="1600" b="1" i="0">
                <a:solidFill>
                  <a:srgbClr val="0B3D91"/>
                </a:solidFill>
              </a:rPr>
              <a:t>Spikes under-predicted</a:t>
            </a:r>
            <a:endParaRPr sz="1600" b="1" i="0">
              <a:solidFill>
                <a:srgbClr val="0B3D91"/>
              </a:solidFill>
            </a:endParaRPr>
          </a:p>
          <a:p>
            <a:pPr algn="l">
              <a:spcAft>
                <a:spcPts val="600"/>
              </a:spcAft>
            </a:pPr>
            <a:r>
              <a:rPr sz="1300" b="0" i="0">
                <a:solidFill>
                  <a:srgbClr val="222222"/>
                </a:solidFill>
              </a:rPr>
              <a:t>Burning events are invisible to the inputs; consider lag features for next-hour nowcasts.</a:t>
            </a:r>
            <a:endParaRPr sz="1300" b="0" i="0">
              <a:solidFill>
                <a:srgbClr val="222222"/>
              </a:solidFill>
            </a:endParaRPr>
          </a:p>
        </p:txBody>
      </p:sp>
      <p:sp>
        <p:nvSpPr>
          <p:cNvPr id="9" name="Rounded Rectangle 8"/>
          <p:cNvSpPr/>
          <p:nvPr/>
        </p:nvSpPr>
        <p:spPr>
          <a:xfrm>
            <a:off x="6172200" y="3886200"/>
            <a:ext cx="5303520" cy="178308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4023360"/>
            <a:ext cx="4937760" cy="1554480"/>
          </a:xfrm>
          <a:prstGeom prst="rect">
            <a:avLst/>
          </a:prstGeom>
          <a:noFill/>
        </p:spPr>
        <p:txBody>
          <a:bodyPr wrap="square" lIns="45720" tIns="27432" rIns="45720" bIns="27432" anchor="t">
            <a:spAutoFit/>
          </a:bodyPr>
          <a:lstStyle/>
          <a:p>
            <a:pPr algn="l">
              <a:spcAft>
                <a:spcPts val="600"/>
              </a:spcAft>
            </a:pPr>
            <a:r>
              <a:rPr sz="1600" b="1" i="0">
                <a:solidFill>
                  <a:srgbClr val="0B3D91"/>
                </a:solidFill>
              </a:rPr>
              <a:t>Monitoring loop</a:t>
            </a:r>
            <a:endParaRPr sz="1600" b="1" i="0">
              <a:solidFill>
                <a:srgbClr val="0B3D91"/>
              </a:solidFill>
            </a:endParaRPr>
          </a:p>
          <a:p>
            <a:pPr algn="l">
              <a:spcAft>
                <a:spcPts val="600"/>
              </a:spcAft>
            </a:pPr>
            <a:r>
              <a:rPr sz="1300" b="0" i="0">
                <a:solidFill>
                  <a:srgbClr val="222222"/>
                </a:solidFill>
              </a:rPr>
              <a:t>Schedule Evidently on new data; retrain or roll back to a versioned model when RMSE rises.</a:t>
            </a:r>
            <a:endParaRPr sz="1300" b="0" i="0">
              <a:solidFill>
                <a:srgbClr val="22222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heme/theme1.xml><?xml version="1.0" encoding="utf-8"?>
<a:theme xmlns:a="http://schemas.openxmlformats.org/drawingml/2006/main" name="1_Office The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Trebuchet MS">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8543</Words>
  <Application>WPS Presentation</Application>
  <PresentationFormat>Widescreen</PresentationFormat>
  <Paragraphs>539</Paragraphs>
  <Slides>24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24</vt:i4>
      </vt:variant>
    </vt:vector>
  </HeadingPairs>
  <TitlesOfParts>
    <vt:vector size="32" baseType="lpstr">
      <vt:lpstr>Arial</vt:lpstr>
      <vt:lpstr>SimSun</vt:lpstr>
      <vt:lpstr>Wingdings</vt:lpstr>
      <vt:lpstr>Trebuchet MS</vt:lpstr>
      <vt:lpstr>Microsoft YaHei</vt:lpstr>
      <vt:lpstr>Arial Unicode MS</vt:lpstr>
      <vt:lpstr>Calibri</vt:lpstr>
      <vt:lpstr>1_Office Theme</vt:lpstr>
      <vt:lpstr>Predicting PM2.5 Air Quality from AirQo Sensor Data</vt:lpstr>
      <vt:lpstr>Why forecasting PM2.5 matters for Kampala</vt:lpstr>
      <vt:lpstr>Methodology: one pipeline, CSV to RunPod</vt:lpstr>
      <vt:lpstr>149 sensors, but only 8 days of readings</vt:lpstr>
      <vt:lpstr>Cleaning: fix errors, keep real spikes</vt:lpstr>
      <vt:lpstr>Exploratory Data Analysis</vt:lpstr>
      <vt:lpstr>PM2.5 is right-skewed, with real pollution spikes</vt:lpstr>
      <vt:lpstr>Hourly PM2.5 against the AQI bands</vt:lpstr>
      <vt:lpstr>Two daily peaks: morning and evening</vt:lpstr>
      <vt:lpstr>Z-score: PM2.5 as 'how unusual'</vt:lpstr>
      <vt:lpstr>Temperature down, humidity up, PM2.5 up</vt:lpstr>
      <vt:lpstr>Modelling &amp; results</vt:lpstr>
      <vt:lpstr>Features and an honest validation design</vt:lpstr>
      <vt:lpstr>Five models and two ensembles, each tuned</vt:lpstr>
      <vt:lpstr>Random Forest wins: RMSE 21% below baseline</vt:lpstr>
      <vt:lpstr>Where the model hits and misses</vt:lpstr>
      <vt:lpstr>What drives the predictions</vt:lpstr>
      <vt:lpstr>Daily forecast: 3–16 August 2026</vt:lpstr>
      <vt:lpstr>Hourly forecast: Saturday 1 August</vt:lpstr>
      <vt:lpstr>Unhealthy air at 13:00, 1 August</vt:lpstr>
      <vt:lpstr>Monitoring &amp; deployment</vt:lpstr>
      <vt:lpstr>Evidently AI: is anything drifting?</vt:lpstr>
      <vt:lpstr>Limitations and next steps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paper</dc:title>
  <dc:creator>stephen kalyesubula</dc:creator>
  <cp:lastModifiedBy>Mercy Peace</cp:lastModifiedBy>
  <cp:revision>60</cp:revision>
  <dcterms:created xsi:type="dcterms:W3CDTF">2026-08-29T19:30:00Z</dcterms:created>
  <dcterms:modified xsi:type="dcterms:W3CDTF">2026-10-06T15:38:10Z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0D9B6753BC2041C6A3A26955495CF58D_13</vt:lpwstr>
  </property>
  <property fmtid="{D5CDD505-2E9C-101B-9397-08002B2CF9AE}" pid="3" name="KSOProductBuildVer">
    <vt:lpwstr>2057-12.2.0.23206</vt:lpwstr>
  </property>
</Properties>
</file>